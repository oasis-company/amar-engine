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0" r:id="rId3"/>
    <p:sldId id="258" r:id="rId4"/>
    <p:sldId id="256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10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5895B-3708-46E1-A199-8735536F71F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730D5-1C7C-4557-8722-3813F1ECD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8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730D5-1C7C-4557-8722-3813F1ECD0F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580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CD52A-DE3B-BE71-350B-E0DA38781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84FA8A-1033-77A5-23AA-6BA909B53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94D39-C9A0-47E1-C3FA-5965ED9F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797A85-3C27-F384-B033-4EE09B5A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E076C9-73B9-4F1A-5715-93578D04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207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2B7B3-3C3C-EB2D-EF2F-B646B137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B6259B-4CF5-CFDC-9E76-6CBB7AA5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BEF238-4A98-DACC-9938-0F061C66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E4796B-D471-1C09-2657-99D15A36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146646-42C6-A5ED-3243-05AE3678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63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F58A7-5E14-37F3-D19F-55992BBA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20C047-B1A1-E1E9-668C-DC9F1A9F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23E90-9165-9EDE-3C1B-B89B67DA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63088-9412-AD88-B3ED-C5957529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0F08F5-8ED6-368E-56BE-678EFF7F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0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16D7C-93AD-CBE0-1012-F1F704DB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9077C6-69A9-3FC8-BFB7-F269420FB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E25740-E8FC-DAC5-DA21-6D8C4D1BB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BB5C87-9350-6547-C670-B082CEEE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44FCA6-EB23-7AC7-B0F9-BABF35A3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CF9602-39AB-970D-0611-28D23988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78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591DC-24CF-F439-5CB0-79BB1BAC1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0B69D3-9DB8-4827-428A-4EB2C48E2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2FFB99-5740-4906-ACD2-31F70D628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669422-187D-21AC-D1BC-304483023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5CE476-1566-0FCE-0FDB-FC88E32FE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5DDDD0-EC57-0C3F-FF3C-AD6A53F5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6653A1-D149-00FC-0976-36B828D1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476CF6-4152-B633-9EE9-6DFEA9F8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72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3DAA9-949C-54E6-B7CB-26199B59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A43C51-2A94-0711-B259-15FB6424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CE168A-DF1C-0E2D-80F3-DDBC0245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1541F4-A108-331F-3D00-3D086087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06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B6CE88-E7AD-8A67-114D-1F811C6E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72603B-21A9-D219-6D55-126A516D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152145-5B1E-4D8C-75A1-673B8199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710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1F1B0-A8EC-3CC6-D16C-0B5531B8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0D66E-1C41-822F-4F6B-92A48D61D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996C57-B890-146B-76B4-321CE7C76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6C34D-10F0-D542-B130-6A03FD43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4A3208-8399-4CE7-B568-87D5D7E8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DD7083-CD2C-64D2-0086-03203945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87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1848E-E26E-E9B7-862E-CFE0327F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67FA1D-896F-E1BF-1A07-618EEC0FE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7E9F60-070A-3DD2-7F07-301227BD3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EB7E5C-18A6-85E8-058F-DB4C5BB0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998262-CE2B-1785-6582-A53EE80A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FABB55-4AC8-F240-56FF-06332352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60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B6511-DA96-C1F4-7DAE-AC70341F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149C03-06DC-B405-84EC-5831A0C78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BF9FC8-CC88-48E5-1ADA-5B3A3D9A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1FDA95-896F-78F9-572E-254994AE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2388B-85F8-F282-2549-7B84C5FF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69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98E671-E0AE-8555-E1B0-B2AE28F26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59B148-8483-B7BC-E41B-627785FAE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52101F-E64F-721F-26C7-D2420358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56CA3-4BF5-44B0-A094-22F5196D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DBB69-14F6-CF9C-7CAD-B4104BA0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6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42649F-C169-1BD6-FF29-1830D1A7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16D336-937B-59A5-022D-712C7D52D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4A777-CFA0-2D47-3C9A-A43E35B1C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8B24C-C9E3-4F8A-B4AE-8209A59F7979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A3D48-7783-77F9-8A40-75FDF91CB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0B161-D714-6031-E440-1ACE968FD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70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B98E8-F404-42E7-CA06-370C9587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AMAR ENGINE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31B3ED-CEF1-2C3A-C2D1-88C17296B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97987" cy="972240"/>
          </a:xfrm>
        </p:spPr>
        <p:txBody>
          <a:bodyPr/>
          <a:lstStyle/>
          <a:p>
            <a:r>
              <a:rPr lang="en-US" altLang="zh-CN" dirty="0" err="1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Metaclass</a:t>
            </a:r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is the “external constitution.” AMAR Engine is the “world engine that adopts this constitution.”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4" name="图片 3" descr="徽标, 公司名称&#10;&#10;AI 生成的内容可能不正确。">
            <a:extLst>
              <a:ext uri="{FF2B5EF4-FFF2-40B4-BE49-F238E27FC236}">
                <a16:creationId xmlns:a16="http://schemas.microsoft.com/office/drawing/2014/main" id="{1185C566-0941-CCAE-731E-B1D0F3C29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505" y="87313"/>
            <a:ext cx="1670843" cy="16708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AAF05AA-C957-C5D7-5EE6-3FAE6A28168B}"/>
              </a:ext>
            </a:extLst>
          </p:cNvPr>
          <p:cNvSpPr txBox="1"/>
          <p:nvPr/>
        </p:nvSpPr>
        <p:spPr>
          <a:xfrm>
            <a:off x="730526" y="2797866"/>
            <a:ext cx="376693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Principles:</a:t>
            </a:r>
          </a:p>
          <a:p>
            <a:endParaRPr lang="en-US" altLang="zh-CN" sz="16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r>
              <a:rPr lang="en-US" altLang="zh-CN" sz="1600" dirty="0" err="1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Metaclass</a:t>
            </a:r>
            <a:r>
              <a:rPr lang="en-US" altLang="zh-CN" sz="16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is an independent standard</a:t>
            </a:r>
          </a:p>
          <a:p>
            <a:endParaRPr lang="en-US" altLang="zh-CN" sz="16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r>
              <a:rPr lang="en-US" altLang="zh-CN" sz="16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AMAR Engine is the first runtime</a:t>
            </a:r>
          </a:p>
          <a:p>
            <a:endParaRPr lang="en-US" altLang="zh-CN" sz="16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r>
              <a:rPr lang="en-US" altLang="zh-CN" sz="16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GENIS is the physical execution core</a:t>
            </a:r>
          </a:p>
          <a:p>
            <a:endParaRPr lang="en-US" altLang="zh-CN" sz="16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r>
              <a:rPr lang="en-US" altLang="zh-CN" sz="16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AME Admin is the control layer</a:t>
            </a:r>
          </a:p>
          <a:p>
            <a:endParaRPr lang="en-US" altLang="zh-CN" sz="16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r>
              <a:rPr lang="en-US" altLang="zh-CN" sz="16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Output is a "structured, interactive world"</a:t>
            </a:r>
            <a:endParaRPr lang="zh-CN" altLang="en-US" sz="16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6474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D22A6-5897-27A0-8AEB-D51F058C4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13" y="238539"/>
            <a:ext cx="3987248" cy="324058"/>
          </a:xfrm>
        </p:spPr>
        <p:txBody>
          <a:bodyPr>
            <a:normAutofit/>
          </a:bodyPr>
          <a:lstStyle/>
          <a:p>
            <a:r>
              <a:rPr lang="en-US" altLang="zh-CN" sz="10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AMAR Engine — First Runtime of the </a:t>
            </a:r>
            <a:r>
              <a:rPr lang="en-US" altLang="zh-CN" sz="1000" dirty="0" err="1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Metaclass</a:t>
            </a:r>
            <a:r>
              <a:rPr lang="en-US" altLang="zh-CN" sz="10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Standard</a:t>
            </a:r>
            <a:endParaRPr lang="zh-CN" altLang="en-US" sz="10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93000B-8C69-5123-FDD3-17CAAAE8D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600" y="483798"/>
            <a:ext cx="5008880" cy="61531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CDFB29-8DC8-09EC-66B7-490E9B0F4563}"/>
              </a:ext>
            </a:extLst>
          </p:cNvPr>
          <p:cNvSpPr txBox="1"/>
          <p:nvPr/>
        </p:nvSpPr>
        <p:spPr>
          <a:xfrm>
            <a:off x="142240" y="562597"/>
            <a:ext cx="4360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Metaclass</a:t>
            </a:r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System (Engine-Agnostic)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6B5D27-3F5C-91F4-6F6B-E903AC8EF1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96280" y="527036"/>
            <a:ext cx="6200582" cy="629032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ECE009-E934-EE76-9524-45BEF09BAA71}"/>
              </a:ext>
            </a:extLst>
          </p:cNvPr>
          <p:cNvSpPr txBox="1"/>
          <p:nvPr/>
        </p:nvSpPr>
        <p:spPr>
          <a:xfrm>
            <a:off x="5952104" y="631134"/>
            <a:ext cx="5794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AMAR Engine Stack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AC4087-3A48-5927-375C-200A35016420}"/>
              </a:ext>
            </a:extLst>
          </p:cNvPr>
          <p:cNvSpPr/>
          <p:nvPr/>
        </p:nvSpPr>
        <p:spPr>
          <a:xfrm>
            <a:off x="5997824" y="1205923"/>
            <a:ext cx="5953539" cy="7354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34F747-2BB5-3FE6-0171-7E1A540D1047}"/>
              </a:ext>
            </a:extLst>
          </p:cNvPr>
          <p:cNvSpPr txBox="1"/>
          <p:nvPr/>
        </p:nvSpPr>
        <p:spPr>
          <a:xfrm>
            <a:off x="6309360" y="1264920"/>
            <a:ext cx="4983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AME Admin</a:t>
            </a:r>
          </a:p>
          <a:p>
            <a:r>
              <a:rPr lang="en-US" altLang="zh-CN" dirty="0"/>
              <a:t>(Control / Orchestration)</a:t>
            </a:r>
          </a:p>
          <a:p>
            <a:endParaRPr lang="zh-CN" altLang="en-US" dirty="0"/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CD6CD4BC-7DED-9504-4318-473936BBF89D}"/>
              </a:ext>
            </a:extLst>
          </p:cNvPr>
          <p:cNvSpPr/>
          <p:nvPr/>
        </p:nvSpPr>
        <p:spPr>
          <a:xfrm>
            <a:off x="6217920" y="2037080"/>
            <a:ext cx="1463040" cy="3403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5C077A-B903-3753-1450-ACD1F4C62C1D}"/>
              </a:ext>
            </a:extLst>
          </p:cNvPr>
          <p:cNvSpPr/>
          <p:nvPr/>
        </p:nvSpPr>
        <p:spPr>
          <a:xfrm>
            <a:off x="6034985" y="2464938"/>
            <a:ext cx="5879216" cy="7354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3E86C95-A862-1F63-25C6-E6FDC6871B61}"/>
              </a:ext>
            </a:extLst>
          </p:cNvPr>
          <p:cNvSpPr txBox="1"/>
          <p:nvPr/>
        </p:nvSpPr>
        <p:spPr>
          <a:xfrm>
            <a:off x="6180289" y="2537494"/>
            <a:ext cx="5577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Engine Core</a:t>
            </a:r>
          </a:p>
          <a:p>
            <a:r>
              <a:rPr lang="en-US" altLang="zh-CN" dirty="0"/>
              <a:t>(</a:t>
            </a:r>
            <a:r>
              <a:rPr lang="en-US" altLang="zh-CN" dirty="0" err="1"/>
              <a:t>Metaclass</a:t>
            </a:r>
            <a:r>
              <a:rPr lang="en-US" altLang="zh-CN" dirty="0"/>
              <a:t> Binding &amp; World Construction)</a:t>
            </a:r>
          </a:p>
          <a:p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E652AFA-E921-89D9-DC9A-72BA677045B7}"/>
              </a:ext>
            </a:extLst>
          </p:cNvPr>
          <p:cNvSpPr/>
          <p:nvPr/>
        </p:nvSpPr>
        <p:spPr>
          <a:xfrm>
            <a:off x="5997824" y="3741678"/>
            <a:ext cx="5953539" cy="7354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8FAE87B6-D395-B860-9C6E-5954A3412988}"/>
              </a:ext>
            </a:extLst>
          </p:cNvPr>
          <p:cNvSpPr/>
          <p:nvPr/>
        </p:nvSpPr>
        <p:spPr>
          <a:xfrm>
            <a:off x="6258560" y="3330796"/>
            <a:ext cx="1463040" cy="3403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944942-ACE3-B23F-FB81-A25485094D84}"/>
              </a:ext>
            </a:extLst>
          </p:cNvPr>
          <p:cNvSpPr txBox="1"/>
          <p:nvPr/>
        </p:nvSpPr>
        <p:spPr>
          <a:xfrm>
            <a:off x="6096000" y="3804920"/>
            <a:ext cx="5661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World Format</a:t>
            </a:r>
          </a:p>
          <a:p>
            <a:r>
              <a:rPr lang="en-US" altLang="zh-CN" dirty="0"/>
              <a:t>(Structured Folder Specification)</a:t>
            </a:r>
          </a:p>
          <a:p>
            <a:endParaRPr lang="zh-CN" altLang="en-US" dirty="0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22ED2EC4-CD77-D9FA-9966-ECEB5459E3C3}"/>
              </a:ext>
            </a:extLst>
          </p:cNvPr>
          <p:cNvSpPr/>
          <p:nvPr/>
        </p:nvSpPr>
        <p:spPr>
          <a:xfrm>
            <a:off x="6217920" y="4506937"/>
            <a:ext cx="1463040" cy="3403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1539B85-6B13-E7F0-099B-C2B9DCE26DFB}"/>
              </a:ext>
            </a:extLst>
          </p:cNvPr>
          <p:cNvSpPr/>
          <p:nvPr/>
        </p:nvSpPr>
        <p:spPr>
          <a:xfrm>
            <a:off x="5960662" y="4916594"/>
            <a:ext cx="5953539" cy="7354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E11B1BE-4CD9-4968-E23B-9EE6D1F5ED93}"/>
              </a:ext>
            </a:extLst>
          </p:cNvPr>
          <p:cNvSpPr txBox="1"/>
          <p:nvPr/>
        </p:nvSpPr>
        <p:spPr>
          <a:xfrm>
            <a:off x="6096000" y="4916594"/>
            <a:ext cx="5603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GENIS</a:t>
            </a:r>
          </a:p>
          <a:p>
            <a:r>
              <a:rPr lang="en-US" altLang="zh-CN" dirty="0"/>
              <a:t>(Physics Execution Core)</a:t>
            </a:r>
          </a:p>
          <a:p>
            <a:endParaRPr lang="zh-CN" altLang="en-US" dirty="0"/>
          </a:p>
        </p:txBody>
      </p:sp>
      <p:sp>
        <p:nvSpPr>
          <p:cNvPr id="31" name="箭头: 下 30">
            <a:extLst>
              <a:ext uri="{FF2B5EF4-FFF2-40B4-BE49-F238E27FC236}">
                <a16:creationId xmlns:a16="http://schemas.microsoft.com/office/drawing/2014/main" id="{6137DDC3-1A47-99DE-5A1A-1EEADE1C752E}"/>
              </a:ext>
            </a:extLst>
          </p:cNvPr>
          <p:cNvSpPr/>
          <p:nvPr/>
        </p:nvSpPr>
        <p:spPr>
          <a:xfrm>
            <a:off x="6258560" y="5686031"/>
            <a:ext cx="1463040" cy="3403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5A75830-77C4-BCDA-58B4-5E941BBE30FB}"/>
              </a:ext>
            </a:extLst>
          </p:cNvPr>
          <p:cNvSpPr/>
          <p:nvPr/>
        </p:nvSpPr>
        <p:spPr>
          <a:xfrm>
            <a:off x="5997824" y="6040237"/>
            <a:ext cx="5879216" cy="60029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79346EE-743F-FA19-143D-CE94321DFCEB}"/>
              </a:ext>
            </a:extLst>
          </p:cNvPr>
          <p:cNvSpPr txBox="1"/>
          <p:nvPr/>
        </p:nvSpPr>
        <p:spPr>
          <a:xfrm>
            <a:off x="6096000" y="6040237"/>
            <a:ext cx="57709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Interactive World</a:t>
            </a:r>
          </a:p>
          <a:p>
            <a:r>
              <a:rPr lang="en-US" altLang="zh-CN" dirty="0"/>
              <a:t>(Executable Reality)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45F713-FA3B-13C7-D425-F51FED188CBD}"/>
              </a:ext>
            </a:extLst>
          </p:cNvPr>
          <p:cNvSpPr/>
          <p:nvPr/>
        </p:nvSpPr>
        <p:spPr>
          <a:xfrm>
            <a:off x="231913" y="1000466"/>
            <a:ext cx="4655047" cy="9409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B18399-EDE7-80AD-D84E-5FCD680E5F54}"/>
              </a:ext>
            </a:extLst>
          </p:cNvPr>
          <p:cNvSpPr txBox="1"/>
          <p:nvPr/>
        </p:nvSpPr>
        <p:spPr>
          <a:xfrm>
            <a:off x="350520" y="1122680"/>
            <a:ext cx="436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Arial" panose="020B0604020202020204" pitchFamily="34" charset="0"/>
              </a:rPr>
              <a:t>Metaclass Protocol</a:t>
            </a:r>
          </a:p>
          <a:p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0592AB-6E32-B543-3313-2BCF384794C4}"/>
              </a:ext>
            </a:extLst>
          </p:cNvPr>
          <p:cNvSpPr/>
          <p:nvPr/>
        </p:nvSpPr>
        <p:spPr>
          <a:xfrm>
            <a:off x="231912" y="2259481"/>
            <a:ext cx="4655047" cy="9409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DB4668-299B-944F-B5F3-AB6C28D1F112}"/>
              </a:ext>
            </a:extLst>
          </p:cNvPr>
          <p:cNvSpPr/>
          <p:nvPr/>
        </p:nvSpPr>
        <p:spPr>
          <a:xfrm>
            <a:off x="240637" y="3587033"/>
            <a:ext cx="4655047" cy="9409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31F9DD-118C-1988-461C-BE57143B6891}"/>
              </a:ext>
            </a:extLst>
          </p:cNvPr>
          <p:cNvSpPr txBox="1"/>
          <p:nvPr/>
        </p:nvSpPr>
        <p:spPr>
          <a:xfrm>
            <a:off x="396240" y="2377436"/>
            <a:ext cx="406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Arial" panose="020B0604020202020204" pitchFamily="34" charset="0"/>
              </a:rPr>
              <a:t>Root Metaclasses</a:t>
            </a:r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D05CC5-F17E-6B07-60A7-60D303D14CEF}"/>
              </a:ext>
            </a:extLst>
          </p:cNvPr>
          <p:cNvSpPr txBox="1"/>
          <p:nvPr/>
        </p:nvSpPr>
        <p:spPr>
          <a:xfrm>
            <a:off x="396240" y="3671152"/>
            <a:ext cx="4106407" cy="650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Arial" panose="020B0604020202020204" pitchFamily="34" charset="0"/>
              </a:rPr>
              <a:t>Standard Metaclasses</a:t>
            </a:r>
          </a:p>
          <a:p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B170B7-998A-EA7C-EB6D-968C79F55375}"/>
              </a:ext>
            </a:extLst>
          </p:cNvPr>
          <p:cNvSpPr/>
          <p:nvPr/>
        </p:nvSpPr>
        <p:spPr>
          <a:xfrm>
            <a:off x="240637" y="4689848"/>
            <a:ext cx="4655047" cy="9409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FD5477-5926-2F25-D27C-0541366EDDC8}"/>
              </a:ext>
            </a:extLst>
          </p:cNvPr>
          <p:cNvSpPr txBox="1"/>
          <p:nvPr/>
        </p:nvSpPr>
        <p:spPr>
          <a:xfrm>
            <a:off x="396240" y="4775200"/>
            <a:ext cx="424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Arial" panose="020B0604020202020204" pitchFamily="34" charset="0"/>
              </a:rPr>
              <a:t>Instance Specifications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4184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302FC6D-51C6-C2E8-E188-0E5B170917D0}"/>
              </a:ext>
            </a:extLst>
          </p:cNvPr>
          <p:cNvSpPr txBox="1"/>
          <p:nvPr/>
        </p:nvSpPr>
        <p:spPr>
          <a:xfrm>
            <a:off x="160682" y="61404"/>
            <a:ext cx="463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JP Black" panose="020B0200000000000000" pitchFamily="34" charset="-122"/>
                <a:ea typeface="Noto Sans JP Black" panose="020B0200000000000000" pitchFamily="34" charset="-122"/>
              </a:rPr>
              <a:t>AMAR ENGINE     </a:t>
            </a:r>
            <a:r>
              <a:rPr lang="en-US" altLang="zh-CN" dirty="0"/>
              <a:t>Structure</a:t>
            </a:r>
            <a:r>
              <a:rPr lang="zh-CN" altLang="en-US" dirty="0"/>
              <a:t>（</a:t>
            </a:r>
            <a:r>
              <a:rPr lang="en-US" altLang="zh-CN" dirty="0" err="1"/>
              <a:t>lefted</a:t>
            </a:r>
            <a:r>
              <a:rPr lang="zh-CN" altLang="en-US" dirty="0"/>
              <a:t>）</a:t>
            </a:r>
            <a:endParaRPr lang="zh-CN" altLang="en-US" dirty="0">
              <a:latin typeface="Noto Sans JP Black" panose="020B0200000000000000" pitchFamily="34" charset="-122"/>
              <a:ea typeface="Noto Sans JP Black" panose="020B0200000000000000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AD2901-6FDF-162C-8B38-EF110F1B81F6}"/>
              </a:ext>
            </a:extLst>
          </p:cNvPr>
          <p:cNvSpPr/>
          <p:nvPr/>
        </p:nvSpPr>
        <p:spPr>
          <a:xfrm>
            <a:off x="263387" y="5223013"/>
            <a:ext cx="10023613" cy="14411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A8832A-FE19-7ACA-FD28-70790794F229}"/>
              </a:ext>
            </a:extLst>
          </p:cNvPr>
          <p:cNvSpPr/>
          <p:nvPr/>
        </p:nvSpPr>
        <p:spPr>
          <a:xfrm>
            <a:off x="263387" y="3714371"/>
            <a:ext cx="10023613" cy="14411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AD2901-6FDF-162C-8B38-EF110F1B81F6}"/>
              </a:ext>
            </a:extLst>
          </p:cNvPr>
          <p:cNvSpPr/>
          <p:nvPr/>
        </p:nvSpPr>
        <p:spPr>
          <a:xfrm>
            <a:off x="263387" y="2205729"/>
            <a:ext cx="10023613" cy="14411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AD2901-6FDF-162C-8B38-EF110F1B81F6}"/>
              </a:ext>
            </a:extLst>
          </p:cNvPr>
          <p:cNvSpPr/>
          <p:nvPr/>
        </p:nvSpPr>
        <p:spPr>
          <a:xfrm>
            <a:off x="263386" y="699142"/>
            <a:ext cx="10023613" cy="14411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BAC0BA-B9F6-B738-DD62-7A3E5A346BEF}"/>
              </a:ext>
            </a:extLst>
          </p:cNvPr>
          <p:cNvSpPr txBox="1"/>
          <p:nvPr/>
        </p:nvSpPr>
        <p:spPr>
          <a:xfrm>
            <a:off x="10286999" y="5551004"/>
            <a:ext cx="1641614" cy="607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5F8F6C-B247-4F9F-57BD-11FE36E309FF}"/>
              </a:ext>
            </a:extLst>
          </p:cNvPr>
          <p:cNvSpPr txBox="1"/>
          <p:nvPr/>
        </p:nvSpPr>
        <p:spPr>
          <a:xfrm>
            <a:off x="10346635" y="5674461"/>
            <a:ext cx="1581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Defines what can exist.</a:t>
            </a:r>
            <a:endParaRPr lang="zh-CN" altLang="zh-CN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DA625F-DB79-E13C-3DF5-A32E225CA54C}"/>
              </a:ext>
            </a:extLst>
          </p:cNvPr>
          <p:cNvSpPr txBox="1"/>
          <p:nvPr/>
        </p:nvSpPr>
        <p:spPr>
          <a:xfrm>
            <a:off x="10346635" y="5223013"/>
            <a:ext cx="164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Layer I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1FCAA7-AEA8-465B-C511-4E2F2C522EBB}"/>
              </a:ext>
            </a:extLst>
          </p:cNvPr>
          <p:cNvSpPr txBox="1"/>
          <p:nvPr/>
        </p:nvSpPr>
        <p:spPr>
          <a:xfrm>
            <a:off x="10316817" y="3775213"/>
            <a:ext cx="164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Layer II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12" name="文本框 9">
            <a:extLst>
              <a:ext uri="{FF2B5EF4-FFF2-40B4-BE49-F238E27FC236}">
                <a16:creationId xmlns:a16="http://schemas.microsoft.com/office/drawing/2014/main" id="{B2DA625F-DB79-E13C-3DF5-A32E225CA54C}"/>
              </a:ext>
            </a:extLst>
          </p:cNvPr>
          <p:cNvSpPr txBox="1"/>
          <p:nvPr/>
        </p:nvSpPr>
        <p:spPr>
          <a:xfrm>
            <a:off x="10286999" y="2256632"/>
            <a:ext cx="164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Layer III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C2A5D9-5D3D-C51F-578A-2515EEAA019B}"/>
              </a:ext>
            </a:extLst>
          </p:cNvPr>
          <p:cNvSpPr txBox="1"/>
          <p:nvPr/>
        </p:nvSpPr>
        <p:spPr>
          <a:xfrm>
            <a:off x="10316817" y="755553"/>
            <a:ext cx="164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Layer IV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1CC0B1-C742-C1D2-3879-1A1C787AAEB8}"/>
              </a:ext>
            </a:extLst>
          </p:cNvPr>
          <p:cNvSpPr/>
          <p:nvPr/>
        </p:nvSpPr>
        <p:spPr>
          <a:xfrm>
            <a:off x="397565" y="5377070"/>
            <a:ext cx="2335696" cy="1147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11DDB-81B3-CBDB-1280-44E34A2E7FD1}"/>
              </a:ext>
            </a:extLst>
          </p:cNvPr>
          <p:cNvSpPr/>
          <p:nvPr/>
        </p:nvSpPr>
        <p:spPr>
          <a:xfrm>
            <a:off x="2830996" y="5379428"/>
            <a:ext cx="2335696" cy="1147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1CC0B1-C742-C1D2-3879-1A1C787AAEB8}"/>
              </a:ext>
            </a:extLst>
          </p:cNvPr>
          <p:cNvSpPr/>
          <p:nvPr/>
        </p:nvSpPr>
        <p:spPr>
          <a:xfrm>
            <a:off x="5275192" y="5369615"/>
            <a:ext cx="2335696" cy="1147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19CACE-098C-D853-0794-659D050C64E5}"/>
              </a:ext>
            </a:extLst>
          </p:cNvPr>
          <p:cNvSpPr txBox="1"/>
          <p:nvPr/>
        </p:nvSpPr>
        <p:spPr>
          <a:xfrm>
            <a:off x="858909" y="5656428"/>
            <a:ext cx="1863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Metaclass</a:t>
            </a:r>
            <a:r>
              <a:rPr lang="en-US" altLang="zh-CN" dirty="0"/>
              <a:t> Protocol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88AC50-E2AF-1186-327C-689605C141A6}"/>
              </a:ext>
            </a:extLst>
          </p:cNvPr>
          <p:cNvSpPr txBox="1"/>
          <p:nvPr/>
        </p:nvSpPr>
        <p:spPr>
          <a:xfrm>
            <a:off x="2990850" y="5674461"/>
            <a:ext cx="1928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Root </a:t>
            </a:r>
            <a:r>
              <a:rPr lang="en-US" altLang="zh-CN" dirty="0" err="1"/>
              <a:t>Metaclasses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E599EA-AD15-712E-517F-545055F94E43}"/>
              </a:ext>
            </a:extLst>
          </p:cNvPr>
          <p:cNvSpPr txBox="1"/>
          <p:nvPr/>
        </p:nvSpPr>
        <p:spPr>
          <a:xfrm>
            <a:off x="5667375" y="5594254"/>
            <a:ext cx="2122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Standard </a:t>
            </a:r>
            <a:r>
              <a:rPr lang="en-US" altLang="zh-CN" dirty="0" err="1"/>
              <a:t>Metaclasses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E9D2010-385F-3033-E18A-29441271BBCC}"/>
              </a:ext>
            </a:extLst>
          </p:cNvPr>
          <p:cNvSpPr/>
          <p:nvPr/>
        </p:nvSpPr>
        <p:spPr>
          <a:xfrm>
            <a:off x="7739063" y="5407679"/>
            <a:ext cx="2371725" cy="104550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30F81AC-5C9C-E805-657C-5E35B498DDE1}"/>
              </a:ext>
            </a:extLst>
          </p:cNvPr>
          <p:cNvSpPr/>
          <p:nvPr/>
        </p:nvSpPr>
        <p:spPr>
          <a:xfrm>
            <a:off x="7739063" y="3871542"/>
            <a:ext cx="2371725" cy="104550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E9D2010-385F-3033-E18A-29441271BBCC}"/>
              </a:ext>
            </a:extLst>
          </p:cNvPr>
          <p:cNvSpPr/>
          <p:nvPr/>
        </p:nvSpPr>
        <p:spPr>
          <a:xfrm>
            <a:off x="7739063" y="2403561"/>
            <a:ext cx="2371725" cy="104550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9D2010-385F-3033-E18A-29441271BBCC}"/>
              </a:ext>
            </a:extLst>
          </p:cNvPr>
          <p:cNvSpPr/>
          <p:nvPr/>
        </p:nvSpPr>
        <p:spPr>
          <a:xfrm>
            <a:off x="7739063" y="896974"/>
            <a:ext cx="2371725" cy="104550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5CE8ED-E519-6266-34EB-B6F678B77F95}"/>
              </a:ext>
            </a:extLst>
          </p:cNvPr>
          <p:cNvSpPr txBox="1"/>
          <p:nvPr/>
        </p:nvSpPr>
        <p:spPr>
          <a:xfrm>
            <a:off x="7790206" y="5637860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Structural Ontology Layer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32BD359-8653-2C9F-A737-8386CB3B5448}"/>
              </a:ext>
            </a:extLst>
          </p:cNvPr>
          <p:cNvSpPr txBox="1"/>
          <p:nvPr/>
        </p:nvSpPr>
        <p:spPr>
          <a:xfrm>
            <a:off x="7878312" y="3959879"/>
            <a:ext cx="2230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 World Representation Layer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B61124-2CFB-E673-6912-5871AB5E5678}"/>
              </a:ext>
            </a:extLst>
          </p:cNvPr>
          <p:cNvSpPr txBox="1"/>
          <p:nvPr/>
        </p:nvSpPr>
        <p:spPr>
          <a:xfrm>
            <a:off x="7997374" y="2686059"/>
            <a:ext cx="2201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 Runtime Core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E09D02-6A38-6402-226A-6C2C2CD1C8A9}"/>
              </a:ext>
            </a:extLst>
          </p:cNvPr>
          <p:cNvSpPr txBox="1"/>
          <p:nvPr/>
        </p:nvSpPr>
        <p:spPr>
          <a:xfrm>
            <a:off x="7997374" y="1200577"/>
            <a:ext cx="2077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Interface Layer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194A77-2698-6734-26BA-D04C3728AB10}"/>
              </a:ext>
            </a:extLst>
          </p:cNvPr>
          <p:cNvSpPr/>
          <p:nvPr/>
        </p:nvSpPr>
        <p:spPr>
          <a:xfrm>
            <a:off x="397565" y="896974"/>
            <a:ext cx="2171700" cy="1045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472CEEF-0D18-975F-06D4-275A145BCB9C}"/>
              </a:ext>
            </a:extLst>
          </p:cNvPr>
          <p:cNvSpPr txBox="1"/>
          <p:nvPr/>
        </p:nvSpPr>
        <p:spPr>
          <a:xfrm>
            <a:off x="831576" y="1208417"/>
            <a:ext cx="191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LLM API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F1260B-6BED-5C9E-5675-A8ACF527C57E}"/>
              </a:ext>
            </a:extLst>
          </p:cNvPr>
          <p:cNvSpPr/>
          <p:nvPr/>
        </p:nvSpPr>
        <p:spPr>
          <a:xfrm>
            <a:off x="2722496" y="870328"/>
            <a:ext cx="2171700" cy="1045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69625E8-747F-B578-DE59-E892A16D8F58}"/>
              </a:ext>
            </a:extLst>
          </p:cNvPr>
          <p:cNvSpPr txBox="1"/>
          <p:nvPr/>
        </p:nvSpPr>
        <p:spPr>
          <a:xfrm>
            <a:off x="3373403" y="1165788"/>
            <a:ext cx="1779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3DGS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6318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5BE91CDD-C68E-59CC-BA62-6297C4EBBCC4}"/>
              </a:ext>
            </a:extLst>
          </p:cNvPr>
          <p:cNvSpPr/>
          <p:nvPr/>
        </p:nvSpPr>
        <p:spPr>
          <a:xfrm>
            <a:off x="81998" y="5883965"/>
            <a:ext cx="2800350" cy="8505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A767945-2F1C-E6A0-D465-7D0850E0514B}"/>
              </a:ext>
            </a:extLst>
          </p:cNvPr>
          <p:cNvSpPr/>
          <p:nvPr/>
        </p:nvSpPr>
        <p:spPr>
          <a:xfrm>
            <a:off x="81998" y="5198169"/>
            <a:ext cx="2425810" cy="61577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1D13E15-AC94-633D-5CED-1A5950B4E791}"/>
              </a:ext>
            </a:extLst>
          </p:cNvPr>
          <p:cNvSpPr/>
          <p:nvPr/>
        </p:nvSpPr>
        <p:spPr>
          <a:xfrm>
            <a:off x="71396" y="4489659"/>
            <a:ext cx="243641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C3AC08-1B62-48A1-797F-2AAA0B113715}"/>
              </a:ext>
            </a:extLst>
          </p:cNvPr>
          <p:cNvSpPr/>
          <p:nvPr/>
        </p:nvSpPr>
        <p:spPr>
          <a:xfrm>
            <a:off x="1289602" y="631134"/>
            <a:ext cx="2489752" cy="325009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CC5C1A-A47F-0EB6-EFF3-B21231832262}"/>
              </a:ext>
            </a:extLst>
          </p:cNvPr>
          <p:cNvSpPr/>
          <p:nvPr/>
        </p:nvSpPr>
        <p:spPr>
          <a:xfrm>
            <a:off x="1759226" y="1212574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1BC4E6-8331-AEDE-3946-7F2EAA6E5774}"/>
              </a:ext>
            </a:extLst>
          </p:cNvPr>
          <p:cNvSpPr/>
          <p:nvPr/>
        </p:nvSpPr>
        <p:spPr>
          <a:xfrm>
            <a:off x="1759226" y="2080591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8275DF-53D8-4E1E-AA98-EB8720A2D58A}"/>
              </a:ext>
            </a:extLst>
          </p:cNvPr>
          <p:cNvSpPr/>
          <p:nvPr/>
        </p:nvSpPr>
        <p:spPr>
          <a:xfrm>
            <a:off x="1759226" y="2948608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3141FA-B24C-18E7-D130-E91BF5CF010E}"/>
              </a:ext>
            </a:extLst>
          </p:cNvPr>
          <p:cNvSpPr txBox="1"/>
          <p:nvPr/>
        </p:nvSpPr>
        <p:spPr>
          <a:xfrm>
            <a:off x="2087217" y="695811"/>
            <a:ext cx="139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S UI Gothic" panose="020B0600070205080204" pitchFamily="34" charset="-128"/>
                <a:ea typeface="MS UI Gothic" panose="020B0600070205080204" pitchFamily="34" charset="-128"/>
              </a:rPr>
              <a:t>INPUT</a:t>
            </a:r>
            <a:endParaRPr lang="zh-CN" alt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4C27B1-FD70-8F48-D8C5-EAFAB2532D61}"/>
              </a:ext>
            </a:extLst>
          </p:cNvPr>
          <p:cNvSpPr/>
          <p:nvPr/>
        </p:nvSpPr>
        <p:spPr>
          <a:xfrm>
            <a:off x="9064486" y="506895"/>
            <a:ext cx="2594113" cy="59286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363CCF-F9C6-2297-5930-700E203DDB8F}"/>
              </a:ext>
            </a:extLst>
          </p:cNvPr>
          <p:cNvSpPr/>
          <p:nvPr/>
        </p:nvSpPr>
        <p:spPr>
          <a:xfrm>
            <a:off x="9230689" y="971351"/>
            <a:ext cx="2251213" cy="38414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014885-527C-63CE-94D9-F425BD860CD2}"/>
              </a:ext>
            </a:extLst>
          </p:cNvPr>
          <p:cNvSpPr/>
          <p:nvPr/>
        </p:nvSpPr>
        <p:spPr>
          <a:xfrm>
            <a:off x="9278176" y="4904961"/>
            <a:ext cx="2166730" cy="14461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BC3741-A913-0762-7012-A3B0A65F83F3}"/>
              </a:ext>
            </a:extLst>
          </p:cNvPr>
          <p:cNvSpPr txBox="1"/>
          <p:nvPr/>
        </p:nvSpPr>
        <p:spPr>
          <a:xfrm>
            <a:off x="9695622" y="558284"/>
            <a:ext cx="2107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OUTPUT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C17DFB-C0FF-F35A-5DF0-66D74223F73C}"/>
              </a:ext>
            </a:extLst>
          </p:cNvPr>
          <p:cNvSpPr txBox="1"/>
          <p:nvPr/>
        </p:nvSpPr>
        <p:spPr>
          <a:xfrm>
            <a:off x="9509259" y="5013503"/>
            <a:ext cx="170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EME WORLD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932628-2694-BD66-E75B-F1B3E9707A87}"/>
              </a:ext>
            </a:extLst>
          </p:cNvPr>
          <p:cNvSpPr txBox="1"/>
          <p:nvPr/>
        </p:nvSpPr>
        <p:spPr>
          <a:xfrm>
            <a:off x="2087217" y="2256182"/>
            <a:ext cx="138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LLM API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4FEC95-B6E1-D130-EA6A-8CD95B0ADEA5}"/>
              </a:ext>
            </a:extLst>
          </p:cNvPr>
          <p:cNvSpPr txBox="1"/>
          <p:nvPr/>
        </p:nvSpPr>
        <p:spPr>
          <a:xfrm>
            <a:off x="1993900" y="31242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3DGS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F2FB6D-5423-ABA2-ABC5-C18DB98A8523}"/>
              </a:ext>
            </a:extLst>
          </p:cNvPr>
          <p:cNvSpPr txBox="1"/>
          <p:nvPr/>
        </p:nvSpPr>
        <p:spPr>
          <a:xfrm>
            <a:off x="9559290" y="5292098"/>
            <a:ext cx="1615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We don't need to consider this for now.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D2CF9C-6E52-A147-8215-55B8D7F3892E}"/>
              </a:ext>
            </a:extLst>
          </p:cNvPr>
          <p:cNvSpPr txBox="1"/>
          <p:nvPr/>
        </p:nvSpPr>
        <p:spPr>
          <a:xfrm>
            <a:off x="1870074" y="1263650"/>
            <a:ext cx="146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Photo,video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C047A2-B398-185B-A46F-9A774994271B}"/>
              </a:ext>
            </a:extLst>
          </p:cNvPr>
          <p:cNvSpPr/>
          <p:nvPr/>
        </p:nvSpPr>
        <p:spPr>
          <a:xfrm>
            <a:off x="4089400" y="1212850"/>
            <a:ext cx="1339850" cy="704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940A9D-0E41-7561-4CC1-21F5DEAC1D2A}"/>
              </a:ext>
            </a:extLst>
          </p:cNvPr>
          <p:cNvSpPr txBox="1"/>
          <p:nvPr/>
        </p:nvSpPr>
        <p:spPr>
          <a:xfrm>
            <a:off x="4264025" y="1355725"/>
            <a:ext cx="116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Tahoe</a:t>
            </a:r>
            <a:endParaRPr lang="zh-CN" altLang="en-US" dirty="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243B9B5A-9DF2-5739-FB44-60C57D9F2FFD}"/>
              </a:ext>
            </a:extLst>
          </p:cNvPr>
          <p:cNvSpPr/>
          <p:nvPr/>
        </p:nvSpPr>
        <p:spPr>
          <a:xfrm>
            <a:off x="3419475" y="1355725"/>
            <a:ext cx="62865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C2F963A-4350-5A96-3512-FB11643490A2}"/>
              </a:ext>
            </a:extLst>
          </p:cNvPr>
          <p:cNvSpPr/>
          <p:nvPr/>
        </p:nvSpPr>
        <p:spPr>
          <a:xfrm>
            <a:off x="5176836" y="1263650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984F89-675C-46D8-A980-F7F632A9E723}"/>
              </a:ext>
            </a:extLst>
          </p:cNvPr>
          <p:cNvSpPr txBox="1"/>
          <p:nvPr/>
        </p:nvSpPr>
        <p:spPr>
          <a:xfrm>
            <a:off x="5137945" y="1225592"/>
            <a:ext cx="1650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1</a:t>
            </a:r>
            <a:endParaRPr lang="zh-CN" altLang="en-US" sz="105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8D103F-E6D2-0C69-1F32-C58447F00C71}"/>
              </a:ext>
            </a:extLst>
          </p:cNvPr>
          <p:cNvSpPr/>
          <p:nvPr/>
        </p:nvSpPr>
        <p:spPr>
          <a:xfrm>
            <a:off x="9355381" y="3881230"/>
            <a:ext cx="2012315" cy="8279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FC6DA9-36F2-0E5E-B307-2E7EC4D673C1}"/>
              </a:ext>
            </a:extLst>
          </p:cNvPr>
          <p:cNvSpPr txBox="1"/>
          <p:nvPr/>
        </p:nvSpPr>
        <p:spPr>
          <a:xfrm>
            <a:off x="9890712" y="4066792"/>
            <a:ext cx="182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Genesis</a:t>
            </a:r>
            <a:endParaRPr lang="zh-CN" altLang="en-US" dirty="0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700ED5AB-62A5-D122-4C9A-C7D989BAA292}"/>
              </a:ext>
            </a:extLst>
          </p:cNvPr>
          <p:cNvSpPr/>
          <p:nvPr/>
        </p:nvSpPr>
        <p:spPr>
          <a:xfrm>
            <a:off x="9559290" y="3429000"/>
            <a:ext cx="444443" cy="3600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D7DF7D-79DE-FE7D-5649-FF5EB5BC2C22}"/>
              </a:ext>
            </a:extLst>
          </p:cNvPr>
          <p:cNvSpPr txBox="1"/>
          <p:nvPr/>
        </p:nvSpPr>
        <p:spPr>
          <a:xfrm>
            <a:off x="10042525" y="3429000"/>
            <a:ext cx="123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Based on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80FCCE-7103-9A73-DF05-607D4895CFFA}"/>
              </a:ext>
            </a:extLst>
          </p:cNvPr>
          <p:cNvSpPr/>
          <p:nvPr/>
        </p:nvSpPr>
        <p:spPr>
          <a:xfrm>
            <a:off x="9302750" y="2498725"/>
            <a:ext cx="2107093" cy="7810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EF0427C-E840-5409-49CD-F2C8B5FCE8F9}"/>
              </a:ext>
            </a:extLst>
          </p:cNvPr>
          <p:cNvSpPr txBox="1"/>
          <p:nvPr/>
        </p:nvSpPr>
        <p:spPr>
          <a:xfrm>
            <a:off x="9404350" y="2673350"/>
            <a:ext cx="180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GENIS</a:t>
            </a:r>
            <a:endParaRPr lang="zh-CN" altLang="en-US" dirty="0"/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C31BD1BD-369A-84A0-021F-9407484AB32E}"/>
              </a:ext>
            </a:extLst>
          </p:cNvPr>
          <p:cNvSpPr/>
          <p:nvPr/>
        </p:nvSpPr>
        <p:spPr>
          <a:xfrm>
            <a:off x="9559290" y="2080591"/>
            <a:ext cx="330835" cy="3336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51AB83E-90C0-6DF1-EA2C-97C28F7E3EED}"/>
              </a:ext>
            </a:extLst>
          </p:cNvPr>
          <p:cNvSpPr txBox="1"/>
          <p:nvPr/>
        </p:nvSpPr>
        <p:spPr>
          <a:xfrm>
            <a:off x="9974332" y="2013332"/>
            <a:ext cx="137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Based on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85A8567-5450-9BDE-A4B3-74EC53705452}"/>
              </a:ext>
            </a:extLst>
          </p:cNvPr>
          <p:cNvSpPr txBox="1"/>
          <p:nvPr/>
        </p:nvSpPr>
        <p:spPr>
          <a:xfrm>
            <a:off x="81998" y="4489660"/>
            <a:ext cx="2758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1.This is a world model based on </a:t>
            </a:r>
            <a:r>
              <a:rPr lang="en-US" altLang="zh-CN" dirty="0" err="1"/>
              <a:t>SpatialLM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9490E92-BF83-D9A6-E7D6-9841493BFCED}"/>
              </a:ext>
            </a:extLst>
          </p:cNvPr>
          <p:cNvSpPr txBox="1"/>
          <p:nvPr/>
        </p:nvSpPr>
        <p:spPr>
          <a:xfrm>
            <a:off x="104361" y="4086765"/>
            <a:ext cx="1316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Notes: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EC00E08-8A78-CF2F-D06A-505750BC38A3}"/>
              </a:ext>
            </a:extLst>
          </p:cNvPr>
          <p:cNvSpPr txBox="1"/>
          <p:nvPr/>
        </p:nvSpPr>
        <p:spPr>
          <a:xfrm>
            <a:off x="160682" y="61404"/>
            <a:ext cx="463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JP Black" panose="020B0200000000000000" pitchFamily="34" charset="-122"/>
                <a:ea typeface="Noto Sans JP Black" panose="020B0200000000000000" pitchFamily="34" charset="-122"/>
              </a:rPr>
              <a:t>AMAR ENGINE     </a:t>
            </a:r>
            <a:r>
              <a:rPr lang="en-US" altLang="zh-CN" dirty="0"/>
              <a:t>User Experience Flow</a:t>
            </a:r>
            <a:endParaRPr lang="zh-CN" altLang="en-US" dirty="0">
              <a:latin typeface="Noto Sans JP Black" panose="020B0200000000000000" pitchFamily="34" charset="-122"/>
              <a:ea typeface="Noto Sans JP Black" panose="020B02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F7F5F47-DAAD-CCCA-1923-407607941B71}"/>
              </a:ext>
            </a:extLst>
          </p:cNvPr>
          <p:cNvSpPr txBox="1"/>
          <p:nvPr/>
        </p:nvSpPr>
        <p:spPr>
          <a:xfrm>
            <a:off x="104361" y="800100"/>
            <a:ext cx="1041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latin typeface="Britannic Bold" panose="020B0903060703020204" pitchFamily="34" charset="0"/>
              </a:rPr>
              <a:t>ceaserzhao</a:t>
            </a:r>
            <a:endParaRPr lang="zh-CN" altLang="en-US" sz="1100" dirty="0">
              <a:latin typeface="Britannic Bold" panose="020B0903060703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1544BB-AF39-1C71-DF33-8DB37E71A01D}"/>
              </a:ext>
            </a:extLst>
          </p:cNvPr>
          <p:cNvSpPr/>
          <p:nvPr/>
        </p:nvSpPr>
        <p:spPr>
          <a:xfrm>
            <a:off x="5610760" y="558284"/>
            <a:ext cx="2737025" cy="504822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47E795D-4F29-B6D3-743C-EAC0C77F773F}"/>
              </a:ext>
            </a:extLst>
          </p:cNvPr>
          <p:cNvSpPr txBox="1"/>
          <p:nvPr/>
        </p:nvSpPr>
        <p:spPr>
          <a:xfrm>
            <a:off x="6341164" y="646115"/>
            <a:ext cx="2216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AME ADMIN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CD7EADD-6243-D921-FA03-9AD0956E200C}"/>
              </a:ext>
            </a:extLst>
          </p:cNvPr>
          <p:cNvSpPr/>
          <p:nvPr/>
        </p:nvSpPr>
        <p:spPr>
          <a:xfrm>
            <a:off x="3436711" y="4471454"/>
            <a:ext cx="1604484" cy="55296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A147669C-5D84-B053-896E-C267DF095108}"/>
              </a:ext>
            </a:extLst>
          </p:cNvPr>
          <p:cNvSpPr/>
          <p:nvPr/>
        </p:nvSpPr>
        <p:spPr>
          <a:xfrm rot="3387979">
            <a:off x="2522053" y="3969231"/>
            <a:ext cx="1480950" cy="1048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169AFDA-52E0-C61E-B0EA-F90CCD6F3261}"/>
              </a:ext>
            </a:extLst>
          </p:cNvPr>
          <p:cNvSpPr txBox="1"/>
          <p:nvPr/>
        </p:nvSpPr>
        <p:spPr>
          <a:xfrm>
            <a:off x="3412207" y="4575579"/>
            <a:ext cx="172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AME SCANNER</a:t>
            </a:r>
            <a:endParaRPr lang="zh-CN" altLang="en-US" dirty="0"/>
          </a:p>
        </p:txBody>
      </p:sp>
      <p:pic>
        <p:nvPicPr>
          <p:cNvPr id="42" name="图片 41" descr="徽标, 公司名称&#10;&#10;AI 生成的内容可能不正确。">
            <a:extLst>
              <a:ext uri="{FF2B5EF4-FFF2-40B4-BE49-F238E27FC236}">
                <a16:creationId xmlns:a16="http://schemas.microsoft.com/office/drawing/2014/main" id="{1185C566-0941-CCAE-731E-B1D0F3C29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6" y="1267033"/>
            <a:ext cx="930965" cy="930965"/>
          </a:xfrm>
          <a:prstGeom prst="rect">
            <a:avLst/>
          </a:prstGeom>
        </p:spPr>
      </p:pic>
      <p:sp>
        <p:nvSpPr>
          <p:cNvPr id="43" name="箭头: 右 42">
            <a:extLst>
              <a:ext uri="{FF2B5EF4-FFF2-40B4-BE49-F238E27FC236}">
                <a16:creationId xmlns:a16="http://schemas.microsoft.com/office/drawing/2014/main" id="{BE5614AD-DE1D-D731-B3EC-78B017719254}"/>
              </a:ext>
            </a:extLst>
          </p:cNvPr>
          <p:cNvSpPr/>
          <p:nvPr/>
        </p:nvSpPr>
        <p:spPr>
          <a:xfrm>
            <a:off x="8348870" y="1263650"/>
            <a:ext cx="984387" cy="4614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507A5E4-71F8-791F-BCCC-06F99122A4FE}"/>
              </a:ext>
            </a:extLst>
          </p:cNvPr>
          <p:cNvSpPr/>
          <p:nvPr/>
        </p:nvSpPr>
        <p:spPr>
          <a:xfrm>
            <a:off x="8887789" y="1390608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93CA584-C824-EF90-2C46-ADFFCFEF5D1B}"/>
              </a:ext>
            </a:extLst>
          </p:cNvPr>
          <p:cNvSpPr txBox="1"/>
          <p:nvPr/>
        </p:nvSpPr>
        <p:spPr>
          <a:xfrm>
            <a:off x="8875955" y="1341008"/>
            <a:ext cx="104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354C7C6-FB1B-9D3D-BFC1-05AE942125F9}"/>
              </a:ext>
            </a:extLst>
          </p:cNvPr>
          <p:cNvSpPr txBox="1"/>
          <p:nvPr/>
        </p:nvSpPr>
        <p:spPr>
          <a:xfrm>
            <a:off x="104361" y="5151804"/>
            <a:ext cx="2251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2.A series of complex processes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0295B0E-594C-85D8-8168-93220D4456C5}"/>
              </a:ext>
            </a:extLst>
          </p:cNvPr>
          <p:cNvSpPr txBox="1"/>
          <p:nvPr/>
        </p:nvSpPr>
        <p:spPr>
          <a:xfrm>
            <a:off x="119818" y="1002639"/>
            <a:ext cx="11308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BIZ UDGothic" panose="020B0400000000000000" pitchFamily="33" charset="-128"/>
                <a:ea typeface="BIZ UDGothic" panose="020B0400000000000000" pitchFamily="33" charset="-128"/>
              </a:rPr>
              <a:t>2.23.2026</a:t>
            </a:r>
            <a:endParaRPr lang="zh-CN" altLang="en-US" sz="9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94C40C3-64B0-CCA4-53B5-999BD45EED56}"/>
              </a:ext>
            </a:extLst>
          </p:cNvPr>
          <p:cNvSpPr/>
          <p:nvPr/>
        </p:nvSpPr>
        <p:spPr>
          <a:xfrm>
            <a:off x="5916646" y="4489659"/>
            <a:ext cx="2329070" cy="919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7C41404F-074F-EFA6-6F99-23FE4C2D4586}"/>
              </a:ext>
            </a:extLst>
          </p:cNvPr>
          <p:cNvSpPr/>
          <p:nvPr/>
        </p:nvSpPr>
        <p:spPr>
          <a:xfrm>
            <a:off x="8004022" y="4561514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FFDC12D-85AB-9D4D-9545-B52B2D7A92B1}"/>
              </a:ext>
            </a:extLst>
          </p:cNvPr>
          <p:cNvSpPr txBox="1"/>
          <p:nvPr/>
        </p:nvSpPr>
        <p:spPr>
          <a:xfrm rot="2135733">
            <a:off x="3502939" y="3728810"/>
            <a:ext cx="2800350" cy="246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SKILLS, Or rather, a kind of standard</a:t>
            </a:r>
            <a:endParaRPr lang="zh-CN" altLang="en-US" sz="1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0104898-28DC-AACA-4AAD-10E7B0A39FC3}"/>
              </a:ext>
            </a:extLst>
          </p:cNvPr>
          <p:cNvSpPr txBox="1"/>
          <p:nvPr/>
        </p:nvSpPr>
        <p:spPr>
          <a:xfrm>
            <a:off x="7976789" y="4512965"/>
            <a:ext cx="126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</a:t>
            </a:r>
            <a:endParaRPr lang="zh-CN" altLang="en-US" sz="12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01BC64A-0B9C-7C8D-5128-C63671FE39D0}"/>
              </a:ext>
            </a:extLst>
          </p:cNvPr>
          <p:cNvSpPr txBox="1"/>
          <p:nvPr/>
        </p:nvSpPr>
        <p:spPr>
          <a:xfrm>
            <a:off x="6242973" y="4751746"/>
            <a:ext cx="199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Information pool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FCD0B7A-C985-AB96-0D55-2070385574F8}"/>
              </a:ext>
            </a:extLst>
          </p:cNvPr>
          <p:cNvSpPr txBox="1"/>
          <p:nvPr/>
        </p:nvSpPr>
        <p:spPr>
          <a:xfrm>
            <a:off x="71396" y="5834724"/>
            <a:ext cx="2847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3.A brand new data format, similar to JSON, used to describe the world.</a:t>
            </a:r>
            <a:endParaRPr lang="zh-CN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7C96C36-189C-C3D9-BE5B-FAA9F27B3497}"/>
              </a:ext>
            </a:extLst>
          </p:cNvPr>
          <p:cNvSpPr/>
          <p:nvPr/>
        </p:nvSpPr>
        <p:spPr>
          <a:xfrm>
            <a:off x="9355381" y="1128091"/>
            <a:ext cx="1990410" cy="80076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137B836-92A7-B07C-ED52-F2FE7B306DD5}"/>
              </a:ext>
            </a:extLst>
          </p:cNvPr>
          <p:cNvSpPr txBox="1"/>
          <p:nvPr/>
        </p:nvSpPr>
        <p:spPr>
          <a:xfrm>
            <a:off x="9509259" y="1361799"/>
            <a:ext cx="1768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WORLD</a:t>
            </a:r>
            <a:endParaRPr lang="zh-CN" altLang="en-US" dirty="0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91FF571D-A82E-A345-2CD6-61B33F45B558}"/>
              </a:ext>
            </a:extLst>
          </p:cNvPr>
          <p:cNvSpPr/>
          <p:nvPr/>
        </p:nvSpPr>
        <p:spPr>
          <a:xfrm>
            <a:off x="11146596" y="1206394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4F7D1D11-8F9D-80B6-8645-FCB0F675687E}"/>
              </a:ext>
            </a:extLst>
          </p:cNvPr>
          <p:cNvSpPr/>
          <p:nvPr/>
        </p:nvSpPr>
        <p:spPr>
          <a:xfrm rot="18322881">
            <a:off x="4537787" y="1914341"/>
            <a:ext cx="65706" cy="36525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1AAC0EBF-B5EE-90C9-23A8-F154B4C463E8}"/>
              </a:ext>
            </a:extLst>
          </p:cNvPr>
          <p:cNvSpPr/>
          <p:nvPr/>
        </p:nvSpPr>
        <p:spPr>
          <a:xfrm rot="1033216">
            <a:off x="4784492" y="5102124"/>
            <a:ext cx="1483561" cy="1444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箭头: 右 67">
            <a:extLst>
              <a:ext uri="{FF2B5EF4-FFF2-40B4-BE49-F238E27FC236}">
                <a16:creationId xmlns:a16="http://schemas.microsoft.com/office/drawing/2014/main" id="{B53A8CC6-455A-49B3-EEAA-4547947B409E}"/>
              </a:ext>
            </a:extLst>
          </p:cNvPr>
          <p:cNvSpPr/>
          <p:nvPr/>
        </p:nvSpPr>
        <p:spPr>
          <a:xfrm rot="3389305" flipV="1">
            <a:off x="3481763" y="3198494"/>
            <a:ext cx="3545715" cy="139763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593706C-6739-ABAB-6769-0B8812CB2B71}"/>
              </a:ext>
            </a:extLst>
          </p:cNvPr>
          <p:cNvSpPr/>
          <p:nvPr/>
        </p:nvSpPr>
        <p:spPr>
          <a:xfrm>
            <a:off x="5931042" y="3179160"/>
            <a:ext cx="2318603" cy="773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34FB12DA-509A-40D4-9871-CF55B5D22465}"/>
              </a:ext>
            </a:extLst>
          </p:cNvPr>
          <p:cNvSpPr/>
          <p:nvPr/>
        </p:nvSpPr>
        <p:spPr>
          <a:xfrm rot="10800000">
            <a:off x="6663690" y="3981450"/>
            <a:ext cx="842851" cy="454673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568D3FC-8C82-1D80-EB73-EC98129BF820}"/>
              </a:ext>
            </a:extLst>
          </p:cNvPr>
          <p:cNvSpPr txBox="1"/>
          <p:nvPr/>
        </p:nvSpPr>
        <p:spPr>
          <a:xfrm>
            <a:off x="6189644" y="3345992"/>
            <a:ext cx="1979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Assign </a:t>
            </a:r>
            <a:r>
              <a:rPr lang="en-US" altLang="zh-CN" dirty="0" err="1"/>
              <a:t>metaclass</a:t>
            </a:r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4A8AC55-15E7-0AD6-2A4C-34CAA155B5AA}"/>
              </a:ext>
            </a:extLst>
          </p:cNvPr>
          <p:cNvSpPr/>
          <p:nvPr/>
        </p:nvSpPr>
        <p:spPr>
          <a:xfrm>
            <a:off x="5880445" y="1982778"/>
            <a:ext cx="2384170" cy="723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3BE3E1B4-1152-F8FA-213D-AA5F3BFDA3EC}"/>
              </a:ext>
            </a:extLst>
          </p:cNvPr>
          <p:cNvSpPr/>
          <p:nvPr/>
        </p:nvSpPr>
        <p:spPr>
          <a:xfrm rot="10800000">
            <a:off x="6603325" y="2749480"/>
            <a:ext cx="837623" cy="33984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1658801-D7BD-55B7-2474-8D0BEF5FEF16}"/>
              </a:ext>
            </a:extLst>
          </p:cNvPr>
          <p:cNvSpPr txBox="1"/>
          <p:nvPr/>
        </p:nvSpPr>
        <p:spPr>
          <a:xfrm>
            <a:off x="6078672" y="2176113"/>
            <a:ext cx="2247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Parameter Layer</a:t>
            </a:r>
            <a:endParaRPr lang="zh-CN" altLang="en-US" dirty="0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30ED689D-CFD0-5C86-3742-42F3C9605899}"/>
              </a:ext>
            </a:extLst>
          </p:cNvPr>
          <p:cNvSpPr/>
          <p:nvPr/>
        </p:nvSpPr>
        <p:spPr>
          <a:xfrm>
            <a:off x="8030138" y="2044088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7C41404F-074F-EFA6-6F99-23FE4C2D4586}"/>
              </a:ext>
            </a:extLst>
          </p:cNvPr>
          <p:cNvSpPr/>
          <p:nvPr/>
        </p:nvSpPr>
        <p:spPr>
          <a:xfrm>
            <a:off x="8011285" y="3197652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937F8CD2-EC51-1E78-10BC-7C12FA3BA907}"/>
              </a:ext>
            </a:extLst>
          </p:cNvPr>
          <p:cNvSpPr txBox="1"/>
          <p:nvPr/>
        </p:nvSpPr>
        <p:spPr>
          <a:xfrm>
            <a:off x="7969472" y="3148052"/>
            <a:ext cx="183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4</a:t>
            </a:r>
            <a:endParaRPr lang="zh-CN" altLang="en-US" sz="12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ADCD6E6-4DD3-A42E-FC8F-06650FA5531D}"/>
              </a:ext>
            </a:extLst>
          </p:cNvPr>
          <p:cNvSpPr txBox="1"/>
          <p:nvPr/>
        </p:nvSpPr>
        <p:spPr>
          <a:xfrm>
            <a:off x="8013231" y="1986044"/>
            <a:ext cx="136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5</a:t>
            </a:r>
            <a:endParaRPr lang="zh-CN" altLang="en-US" sz="12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373CE95-D959-746B-A204-226380DEDD0D}"/>
              </a:ext>
            </a:extLst>
          </p:cNvPr>
          <p:cNvSpPr/>
          <p:nvPr/>
        </p:nvSpPr>
        <p:spPr>
          <a:xfrm>
            <a:off x="2571750" y="5198169"/>
            <a:ext cx="2731294" cy="6130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F194D1A-7042-EE1E-02A6-D6004849EA36}"/>
              </a:ext>
            </a:extLst>
          </p:cNvPr>
          <p:cNvSpPr txBox="1"/>
          <p:nvPr/>
        </p:nvSpPr>
        <p:spPr>
          <a:xfrm>
            <a:off x="2571750" y="5159521"/>
            <a:ext cx="2731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4. </a:t>
            </a:r>
            <a:r>
              <a:rPr lang="en-US" altLang="zh-CN" sz="1200" dirty="0" err="1"/>
              <a:t>mataclass</a:t>
            </a:r>
            <a:r>
              <a:rPr lang="en-US" altLang="zh-CN" sz="1200" dirty="0"/>
              <a:t> is the cornerstone of AME; see its separate GitHub repository for details.</a:t>
            </a:r>
            <a:endParaRPr lang="zh-CN" altLang="en-US" sz="12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1576ACD-394C-E837-AB44-FDD2ED9C85D9}"/>
              </a:ext>
            </a:extLst>
          </p:cNvPr>
          <p:cNvSpPr/>
          <p:nvPr/>
        </p:nvSpPr>
        <p:spPr>
          <a:xfrm>
            <a:off x="3014845" y="5897094"/>
            <a:ext cx="3058933" cy="8505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E416108-03E4-858E-04F0-4F7923865D5C}"/>
              </a:ext>
            </a:extLst>
          </p:cNvPr>
          <p:cNvSpPr txBox="1"/>
          <p:nvPr/>
        </p:nvSpPr>
        <p:spPr>
          <a:xfrm>
            <a:off x="11112501" y="1172152"/>
            <a:ext cx="171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7</a:t>
            </a:r>
            <a:endParaRPr lang="zh-CN" altLang="en-US" sz="12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C45CBCE-4304-4AD3-A10E-409620158124}"/>
              </a:ext>
            </a:extLst>
          </p:cNvPr>
          <p:cNvSpPr/>
          <p:nvPr/>
        </p:nvSpPr>
        <p:spPr>
          <a:xfrm>
            <a:off x="5869021" y="1027879"/>
            <a:ext cx="2436282" cy="704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箭头: 下 78">
            <a:extLst>
              <a:ext uri="{FF2B5EF4-FFF2-40B4-BE49-F238E27FC236}">
                <a16:creationId xmlns:a16="http://schemas.microsoft.com/office/drawing/2014/main" id="{08B21885-2D1C-21B2-603A-E36CC153285A}"/>
              </a:ext>
            </a:extLst>
          </p:cNvPr>
          <p:cNvSpPr/>
          <p:nvPr/>
        </p:nvSpPr>
        <p:spPr>
          <a:xfrm rot="10800000">
            <a:off x="6702087" y="1767561"/>
            <a:ext cx="640098" cy="160383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DF9F9BF-F8BA-3FE0-AB81-87022E50B70D}"/>
              </a:ext>
            </a:extLst>
          </p:cNvPr>
          <p:cNvSpPr/>
          <p:nvPr/>
        </p:nvSpPr>
        <p:spPr>
          <a:xfrm>
            <a:off x="6242973" y="5811194"/>
            <a:ext cx="2692369" cy="97760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1576ACD-394C-E837-AB44-FDD2ED9C85D9}"/>
              </a:ext>
            </a:extLst>
          </p:cNvPr>
          <p:cNvSpPr/>
          <p:nvPr/>
        </p:nvSpPr>
        <p:spPr>
          <a:xfrm>
            <a:off x="9040396" y="6469282"/>
            <a:ext cx="3080208" cy="33259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D2D27DB-7E96-825E-563C-1541A22C23BA}"/>
              </a:ext>
            </a:extLst>
          </p:cNvPr>
          <p:cNvSpPr txBox="1"/>
          <p:nvPr/>
        </p:nvSpPr>
        <p:spPr>
          <a:xfrm>
            <a:off x="6170218" y="1206981"/>
            <a:ext cx="226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BUILD</a:t>
            </a:r>
            <a:endParaRPr lang="zh-CN" altLang="en-US" dirty="0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E675F6B-D8E9-A1D8-9456-A4790EFF5AB1}"/>
              </a:ext>
            </a:extLst>
          </p:cNvPr>
          <p:cNvSpPr/>
          <p:nvPr/>
        </p:nvSpPr>
        <p:spPr>
          <a:xfrm>
            <a:off x="8040197" y="1074265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E6CC673A-296F-5205-F152-5407116CFFE8}"/>
              </a:ext>
            </a:extLst>
          </p:cNvPr>
          <p:cNvSpPr txBox="1"/>
          <p:nvPr/>
        </p:nvSpPr>
        <p:spPr>
          <a:xfrm>
            <a:off x="8043564" y="1024206"/>
            <a:ext cx="94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BE2EE4-9370-3384-0C5C-F5475CF6EB39}"/>
              </a:ext>
            </a:extLst>
          </p:cNvPr>
          <p:cNvSpPr txBox="1"/>
          <p:nvPr/>
        </p:nvSpPr>
        <p:spPr>
          <a:xfrm>
            <a:off x="6289903" y="5811194"/>
            <a:ext cx="2657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7. It's an interactive world,(folders) are not single files.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16AB4C-45CF-6116-4728-3E9F3F381D9D}"/>
              </a:ext>
            </a:extLst>
          </p:cNvPr>
          <p:cNvSpPr txBox="1"/>
          <p:nvPr/>
        </p:nvSpPr>
        <p:spPr>
          <a:xfrm>
            <a:off x="9047918" y="6496445"/>
            <a:ext cx="3218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6. It is also the main program of AME ADMIN</a:t>
            </a:r>
            <a:endParaRPr lang="zh-CN" altLang="en-US" sz="11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7EEC670-B147-F19E-34A8-EE9B1F457066}"/>
              </a:ext>
            </a:extLst>
          </p:cNvPr>
          <p:cNvSpPr txBox="1"/>
          <p:nvPr/>
        </p:nvSpPr>
        <p:spPr>
          <a:xfrm>
            <a:off x="2996061" y="5874222"/>
            <a:ext cx="30262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5. Here you set the world parameters, and AME will automatically generate a JSON file.</a:t>
            </a:r>
            <a:endParaRPr lang="zh-CN" altLang="en-US" sz="1400" dirty="0"/>
          </a:p>
        </p:txBody>
      </p:sp>
      <p:sp>
        <p:nvSpPr>
          <p:cNvPr id="70" name="箭头: 右 69">
            <a:extLst>
              <a:ext uri="{FF2B5EF4-FFF2-40B4-BE49-F238E27FC236}">
                <a16:creationId xmlns:a16="http://schemas.microsoft.com/office/drawing/2014/main" id="{7AB8C733-12FE-5B31-6CC9-F008E6E8D0ED}"/>
              </a:ext>
            </a:extLst>
          </p:cNvPr>
          <p:cNvSpPr/>
          <p:nvPr/>
        </p:nvSpPr>
        <p:spPr>
          <a:xfrm>
            <a:off x="11213820" y="1479507"/>
            <a:ext cx="588895" cy="943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FC809DE-A36D-60B3-61FF-F5B171ACFA67}"/>
              </a:ext>
            </a:extLst>
          </p:cNvPr>
          <p:cNvSpPr txBox="1"/>
          <p:nvPr/>
        </p:nvSpPr>
        <p:spPr>
          <a:xfrm>
            <a:off x="11277600" y="-19826"/>
            <a:ext cx="1303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Finished product</a:t>
            </a:r>
            <a:endParaRPr lang="zh-CN" altLang="en-US" sz="1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82" name="箭头: 下 81">
            <a:extLst>
              <a:ext uri="{FF2B5EF4-FFF2-40B4-BE49-F238E27FC236}">
                <a16:creationId xmlns:a16="http://schemas.microsoft.com/office/drawing/2014/main" id="{4DA12131-07E0-0743-2D0F-2CE81EA318A2}"/>
              </a:ext>
            </a:extLst>
          </p:cNvPr>
          <p:cNvSpPr/>
          <p:nvPr/>
        </p:nvSpPr>
        <p:spPr>
          <a:xfrm rot="10800000">
            <a:off x="11802715" y="506895"/>
            <a:ext cx="121108" cy="10615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911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7BF15-77F4-81A2-80C5-9FFF0EB9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Noto Sans JP Black" panose="020B0200000000000000" pitchFamily="34" charset="-122"/>
                <a:ea typeface="Noto Sans JP Black" panose="020B0200000000000000" pitchFamily="34" charset="-122"/>
              </a:rPr>
              <a:t>ABOUT US</a:t>
            </a:r>
            <a:endParaRPr lang="zh-CN" altLang="en-US" dirty="0">
              <a:latin typeface="Noto Sans JP Black" panose="020B0200000000000000" pitchFamily="34" charset="-122"/>
              <a:ea typeface="Noto Sans JP Black" panose="020B0200000000000000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24DB54-D574-FD55-FE53-49E9081DB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8C643F-7FED-4F25-11FD-DAC5BBAF0AF5}"/>
              </a:ext>
            </a:extLst>
          </p:cNvPr>
          <p:cNvSpPr/>
          <p:nvPr/>
        </p:nvSpPr>
        <p:spPr>
          <a:xfrm>
            <a:off x="725557" y="1426265"/>
            <a:ext cx="3374334" cy="50666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EF4A6D-6FFF-68CC-E8B6-65E830DB7F34}"/>
              </a:ext>
            </a:extLst>
          </p:cNvPr>
          <p:cNvSpPr/>
          <p:nvPr/>
        </p:nvSpPr>
        <p:spPr>
          <a:xfrm>
            <a:off x="4139648" y="1426265"/>
            <a:ext cx="3374334" cy="50666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8C643F-7FED-4F25-11FD-DAC5BBAF0AF5}"/>
              </a:ext>
            </a:extLst>
          </p:cNvPr>
          <p:cNvSpPr/>
          <p:nvPr/>
        </p:nvSpPr>
        <p:spPr>
          <a:xfrm>
            <a:off x="7553739" y="1426265"/>
            <a:ext cx="3374334" cy="50666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C8D887-4AF6-623B-0CF0-444AA513A77A}"/>
              </a:ext>
            </a:extLst>
          </p:cNvPr>
          <p:cNvSpPr txBox="1"/>
          <p:nvPr/>
        </p:nvSpPr>
        <p:spPr>
          <a:xfrm>
            <a:off x="838200" y="1470991"/>
            <a:ext cx="3301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Ceaserzhao</a:t>
            </a:r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(</a:t>
            </a:r>
            <a:r>
              <a:rPr lang="en-US" altLang="zh-CN" dirty="0" err="1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Wenzhang</a:t>
            </a:r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Zhao)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2519DF-4396-EE40-F196-1B2B8184F6F4}"/>
              </a:ext>
            </a:extLst>
          </p:cNvPr>
          <p:cNvSpPr txBox="1"/>
          <p:nvPr/>
        </p:nvSpPr>
        <p:spPr>
          <a:xfrm>
            <a:off x="7603435" y="1570383"/>
            <a:ext cx="237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Nissunay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A7EB2D-D42C-32BB-753D-7542AF7493F8}"/>
              </a:ext>
            </a:extLst>
          </p:cNvPr>
          <p:cNvSpPr txBox="1"/>
          <p:nvPr/>
        </p:nvSpPr>
        <p:spPr>
          <a:xfrm>
            <a:off x="4212534" y="1506022"/>
            <a:ext cx="236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Evan Tang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3FAF57-E3CA-6BCE-6225-D2B47D2E85FB}"/>
              </a:ext>
            </a:extLst>
          </p:cNvPr>
          <p:cNvSpPr txBox="1"/>
          <p:nvPr/>
        </p:nvSpPr>
        <p:spPr>
          <a:xfrm>
            <a:off x="803412" y="2993796"/>
            <a:ext cx="1984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FROM:CHINA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FAEE57-6187-1354-C277-3E1F0F28F38D}"/>
              </a:ext>
            </a:extLst>
          </p:cNvPr>
          <p:cNvSpPr txBox="1"/>
          <p:nvPr/>
        </p:nvSpPr>
        <p:spPr>
          <a:xfrm>
            <a:off x="7894983" y="3000855"/>
            <a:ext cx="229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FROM:MEXICO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729016-4456-C71E-DC83-89A95A42B7D7}"/>
              </a:ext>
            </a:extLst>
          </p:cNvPr>
          <p:cNvSpPr txBox="1"/>
          <p:nvPr/>
        </p:nvSpPr>
        <p:spPr>
          <a:xfrm>
            <a:off x="4400549" y="2993796"/>
            <a:ext cx="1984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FROM:CHINA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95FC8B-340B-A0D6-AFC2-9FE45D242A91}"/>
              </a:ext>
            </a:extLst>
          </p:cNvPr>
          <p:cNvSpPr txBox="1"/>
          <p:nvPr/>
        </p:nvSpPr>
        <p:spPr>
          <a:xfrm>
            <a:off x="879613" y="2390361"/>
            <a:ext cx="25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Founder &amp; CEO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37F801-F554-A99E-4805-1F1B370A3691}"/>
              </a:ext>
            </a:extLst>
          </p:cNvPr>
          <p:cNvSpPr txBox="1"/>
          <p:nvPr/>
        </p:nvSpPr>
        <p:spPr>
          <a:xfrm>
            <a:off x="879613" y="4184374"/>
            <a:ext cx="2834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Github:https</a:t>
            </a:r>
            <a:r>
              <a:rPr lang="en-US" altLang="zh-CN" dirty="0"/>
              <a:t>://github.com/</a:t>
            </a:r>
            <a:r>
              <a:rPr lang="en-US" altLang="zh-CN" dirty="0" err="1"/>
              <a:t>zbbsdsb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5057EE-A3DF-011D-6AE0-0A7DB9DDB33E}"/>
              </a:ext>
            </a:extLst>
          </p:cNvPr>
          <p:cNvSpPr txBox="1"/>
          <p:nvPr/>
        </p:nvSpPr>
        <p:spPr>
          <a:xfrm>
            <a:off x="4409661" y="4239602"/>
            <a:ext cx="2834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Github:https</a:t>
            </a:r>
            <a:r>
              <a:rPr lang="en-US" altLang="zh-CN" dirty="0"/>
              <a:t>://github.com/tangsky123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20DD644-9AEC-2D9D-341B-D203AB0E32BA}"/>
              </a:ext>
            </a:extLst>
          </p:cNvPr>
          <p:cNvSpPr txBox="1"/>
          <p:nvPr/>
        </p:nvSpPr>
        <p:spPr>
          <a:xfrm>
            <a:off x="7894983" y="4219577"/>
            <a:ext cx="2834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Github:https</a:t>
            </a:r>
            <a:r>
              <a:rPr lang="en-US" altLang="zh-CN" dirty="0"/>
              <a:t>://github.com/</a:t>
            </a:r>
            <a:r>
              <a:rPr lang="en-US" altLang="zh-CN" dirty="0" err="1"/>
              <a:t>AmaiDonatsu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108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A2C4D-46C0-CE4A-D7D4-8580EF1CA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7C3539-7607-5D17-C602-79B4E6F12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zh-CN" altLang="en-US" b="1" dirty="0"/>
              <a:t>🧩 现在我给你一个视觉建议</a:t>
            </a:r>
          </a:p>
          <a:p>
            <a:r>
              <a:rPr lang="zh-CN" altLang="en-US" dirty="0"/>
              <a:t>左侧用冷色（蓝）</a:t>
            </a:r>
          </a:p>
          <a:p>
            <a:r>
              <a:rPr lang="zh-CN" altLang="en-US" dirty="0"/>
              <a:t>右侧用结构色（灰</a:t>
            </a:r>
            <a:r>
              <a:rPr lang="en-US" altLang="zh-CN" dirty="0"/>
              <a:t>/</a:t>
            </a:r>
            <a:r>
              <a:rPr lang="zh-CN" altLang="en-US" dirty="0"/>
              <a:t>白）</a:t>
            </a:r>
          </a:p>
          <a:p>
            <a:r>
              <a:rPr lang="en-US" altLang="zh-CN" dirty="0"/>
              <a:t>GENIS </a:t>
            </a:r>
            <a:r>
              <a:rPr lang="zh-CN" altLang="en-US" dirty="0"/>
              <a:t>用红色（物理核心）</a:t>
            </a:r>
          </a:p>
          <a:p>
            <a:r>
              <a:rPr lang="en-US" altLang="zh-CN" dirty="0"/>
              <a:t>Interactive World </a:t>
            </a:r>
            <a:r>
              <a:rPr lang="zh-CN" altLang="en-US" dirty="0"/>
              <a:t>用绿色（结果）</a:t>
            </a:r>
          </a:p>
          <a:p>
            <a:r>
              <a:rPr lang="zh-CN" altLang="en-US" dirty="0"/>
              <a:t>颜色要讲故事。</a:t>
            </a: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zh-CN" altLang="en-US" b="1" dirty="0"/>
              <a:t>📌 第二页将会是：</a:t>
            </a:r>
          </a:p>
          <a:p>
            <a:r>
              <a:rPr lang="en-US" altLang="zh-CN" dirty="0"/>
              <a:t>User Flow</a:t>
            </a:r>
          </a:p>
          <a:p>
            <a:r>
              <a:rPr lang="zh-CN" altLang="en-US" dirty="0"/>
              <a:t>但第一页必须是：</a:t>
            </a:r>
          </a:p>
          <a:p>
            <a:r>
              <a:rPr lang="zh-CN" altLang="en-US" dirty="0"/>
              <a:t>“结构权力分布图”。</a:t>
            </a: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zh-CN" altLang="en-US" b="1" dirty="0"/>
              <a:t>🔥 现在我问你一个关键问题</a:t>
            </a:r>
          </a:p>
          <a:p>
            <a:r>
              <a:rPr lang="en-US" altLang="zh-CN" dirty="0" err="1"/>
              <a:t>Metaclass</a:t>
            </a:r>
            <a:r>
              <a:rPr lang="en-US" altLang="zh-CN" dirty="0"/>
              <a:t> System </a:t>
            </a:r>
            <a:r>
              <a:rPr lang="zh-CN" altLang="en-US" dirty="0"/>
              <a:t>是否拥有版本号？</a:t>
            </a:r>
          </a:p>
          <a:p>
            <a:r>
              <a:rPr lang="zh-CN" altLang="en-US" dirty="0"/>
              <a:t>如果有：</a:t>
            </a:r>
          </a:p>
          <a:p>
            <a:r>
              <a:rPr lang="zh-CN" altLang="en-US" dirty="0"/>
              <a:t>我们可以在图上写：</a:t>
            </a:r>
          </a:p>
          <a:p>
            <a:r>
              <a:rPr lang="en-US" altLang="zh-CN" dirty="0" err="1"/>
              <a:t>Metaclass</a:t>
            </a:r>
            <a:r>
              <a:rPr lang="en-US" altLang="zh-CN" dirty="0"/>
              <a:t> Standard v0.1</a:t>
            </a:r>
          </a:p>
          <a:p>
            <a:r>
              <a:rPr lang="zh-CN" altLang="en-US" dirty="0"/>
              <a:t>这会极度专业。</a:t>
            </a:r>
          </a:p>
          <a:p>
            <a:r>
              <a:rPr lang="zh-CN" altLang="en-US" dirty="0"/>
              <a:t>如果没有，</a:t>
            </a:r>
          </a:p>
          <a:p>
            <a:r>
              <a:rPr lang="zh-CN" altLang="en-US" dirty="0"/>
              <a:t>我们可以开始定义版本。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6409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98BA7-0EAD-B7F5-0A06-AF08CCC8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91C089-2DD9-4D07-8D63-C8ED9D7BC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3440" y="2499360"/>
            <a:ext cx="11089088" cy="4109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96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Thx!</a:t>
            </a:r>
            <a:endParaRPr lang="zh-CN" altLang="en-US" sz="96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F2F8F8-0315-B701-59E8-0BEF377B872F}"/>
              </a:ext>
            </a:extLst>
          </p:cNvPr>
          <p:cNvSpPr txBox="1"/>
          <p:nvPr/>
        </p:nvSpPr>
        <p:spPr>
          <a:xfrm>
            <a:off x="7640320" y="2346960"/>
            <a:ext cx="6024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/>
              <a:t>:3</a:t>
            </a:r>
            <a:endParaRPr lang="zh-CN" altLang="en-US" sz="9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54208-BF2E-D901-D202-AC45D0777428}"/>
              </a:ext>
            </a:extLst>
          </p:cNvPr>
          <p:cNvSpPr txBox="1"/>
          <p:nvPr/>
        </p:nvSpPr>
        <p:spPr>
          <a:xfrm>
            <a:off x="127000" y="2433320"/>
            <a:ext cx="2941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&lt;3</a:t>
            </a:r>
            <a:endParaRPr lang="zh-CN" altLang="en-US" sz="96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7969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488</Words>
  <Application>Microsoft Office PowerPoint</Application>
  <PresentationFormat>宽屏</PresentationFormat>
  <Paragraphs>120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BIZ UDGothic</vt:lpstr>
      <vt:lpstr>MS UI Gothic</vt:lpstr>
      <vt:lpstr>Noto Sans JP Black</vt:lpstr>
      <vt:lpstr>Noto Sans SC Black</vt:lpstr>
      <vt:lpstr>等线</vt:lpstr>
      <vt:lpstr>等线 Light</vt:lpstr>
      <vt:lpstr>Arial</vt:lpstr>
      <vt:lpstr>Britannic Bold</vt:lpstr>
      <vt:lpstr>Office 主题​​</vt:lpstr>
      <vt:lpstr>AMAR ENGINE</vt:lpstr>
      <vt:lpstr>AMAR Engine — First Runtime of the Metaclass Standard</vt:lpstr>
      <vt:lpstr>PowerPoint 演示文稿</vt:lpstr>
      <vt:lpstr>PowerPoint 演示文稿</vt:lpstr>
      <vt:lpstr>ABOUT US</vt:lpstr>
      <vt:lpstr>补充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ceaser zhao</dc:creator>
  <cp:lastModifiedBy>ceaser zhao</cp:lastModifiedBy>
  <cp:revision>45</cp:revision>
  <dcterms:created xsi:type="dcterms:W3CDTF">2026-02-23T06:38:44Z</dcterms:created>
  <dcterms:modified xsi:type="dcterms:W3CDTF">2026-02-25T01:31:14Z</dcterms:modified>
</cp:coreProperties>
</file>