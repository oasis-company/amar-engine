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60" r:id="rId3"/>
    <p:sldId id="258" r:id="rId4"/>
    <p:sldId id="256" r:id="rId5"/>
    <p:sldId id="259" r:id="rId6"/>
    <p:sldId id="262" r:id="rId7"/>
    <p:sldId id="261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6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0B98E8-F404-42E7-CA06-370C9587E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31B3ED-CEF1-2C3A-C2D1-88C17296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97987" cy="972240"/>
          </a:xfrm>
        </p:spPr>
        <p:txBody>
          <a:bodyPr/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Metaclass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is the “external constitution.” AMAR Engine is the “world engine that adopts this constitution.”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pic>
        <p:nvPicPr>
          <p:cNvPr id="4" name="图片 3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505" y="87313"/>
            <a:ext cx="1670843" cy="1670843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AF05AA-C957-C5D7-5EE6-3FAE6A28168B}"/>
              </a:ext>
            </a:extLst>
          </p:cNvPr>
          <p:cNvSpPr txBox="1"/>
          <p:nvPr/>
        </p:nvSpPr>
        <p:spPr>
          <a:xfrm>
            <a:off x="730526" y="2797866"/>
            <a:ext cx="376693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Principles: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Metaclass</a:t>
            </a:r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is an independent standard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 is the first runtime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GENIS is the physical execution core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AME Admin is the control layer</a:t>
            </a:r>
          </a:p>
          <a:p>
            <a:endParaRPr lang="en-US" altLang="zh-CN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r>
              <a:rPr lang="en-US" altLang="zh-CN" sz="1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Output is a "structured, interactive world"</a:t>
            </a:r>
            <a:endParaRPr lang="zh-CN" altLang="en-US" sz="1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6474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7D22A6-5897-27A0-8AEB-D51F058C4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913" y="238539"/>
            <a:ext cx="3987248" cy="324058"/>
          </a:xfrm>
        </p:spPr>
        <p:txBody>
          <a:bodyPr>
            <a:normAutofit/>
          </a:bodyPr>
          <a:lstStyle/>
          <a:p>
            <a:r>
              <a:rPr lang="en-US" altLang="zh-CN" sz="10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 — First Runtime of the </a:t>
            </a:r>
            <a:r>
              <a:rPr lang="en-US" altLang="zh-CN" sz="1000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Metaclass</a:t>
            </a:r>
            <a:r>
              <a:rPr lang="en-US" altLang="zh-CN" sz="10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Standard</a:t>
            </a:r>
            <a:endParaRPr lang="zh-CN" altLang="en-US" sz="10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E93000B-8C69-5123-FDD3-17CAAAE8D55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1600" y="483798"/>
            <a:ext cx="5008880" cy="615316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CDFB29-8DC8-09EC-66B7-490E9B0F4563}"/>
              </a:ext>
            </a:extLst>
          </p:cNvPr>
          <p:cNvSpPr txBox="1"/>
          <p:nvPr/>
        </p:nvSpPr>
        <p:spPr>
          <a:xfrm>
            <a:off x="142240" y="562597"/>
            <a:ext cx="43604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Metaclass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System (Engine-Agnostic)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16B5D27-3F5C-91F4-6F6B-E903AC8EF1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96280" y="527036"/>
            <a:ext cx="6200582" cy="629032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9ECE009-E934-EE76-9524-45BEF09BAA71}"/>
              </a:ext>
            </a:extLst>
          </p:cNvPr>
          <p:cNvSpPr txBox="1"/>
          <p:nvPr/>
        </p:nvSpPr>
        <p:spPr>
          <a:xfrm>
            <a:off x="5952104" y="631134"/>
            <a:ext cx="579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 Stack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0AC4087-3A48-5927-375C-200A35016420}"/>
              </a:ext>
            </a:extLst>
          </p:cNvPr>
          <p:cNvSpPr/>
          <p:nvPr/>
        </p:nvSpPr>
        <p:spPr>
          <a:xfrm>
            <a:off x="5997824" y="1205923"/>
            <a:ext cx="5953539" cy="735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34F747-2BB5-3FE6-0171-7E1A540D1047}"/>
              </a:ext>
            </a:extLst>
          </p:cNvPr>
          <p:cNvSpPr txBox="1"/>
          <p:nvPr/>
        </p:nvSpPr>
        <p:spPr>
          <a:xfrm>
            <a:off x="6309360" y="1264920"/>
            <a:ext cx="49834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</a:p>
          <a:p>
            <a:r>
              <a:rPr lang="en-US" altLang="zh-CN" dirty="0"/>
              <a:t>(Control / Orchestration)</a:t>
            </a:r>
          </a:p>
          <a:p>
            <a:endParaRPr lang="zh-CN" altLang="en-US" dirty="0"/>
          </a:p>
        </p:txBody>
      </p:sp>
      <p:sp>
        <p:nvSpPr>
          <p:cNvPr id="19" name="箭头: 下 18">
            <a:extLst>
              <a:ext uri="{FF2B5EF4-FFF2-40B4-BE49-F238E27FC236}">
                <a16:creationId xmlns:a16="http://schemas.microsoft.com/office/drawing/2014/main" id="{CD6CD4BC-7DED-9504-4318-473936BBF89D}"/>
              </a:ext>
            </a:extLst>
          </p:cNvPr>
          <p:cNvSpPr/>
          <p:nvPr/>
        </p:nvSpPr>
        <p:spPr>
          <a:xfrm>
            <a:off x="6217920" y="2037080"/>
            <a:ext cx="1463040" cy="3403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5C077A-B903-3753-1450-ACD1F4C62C1D}"/>
              </a:ext>
            </a:extLst>
          </p:cNvPr>
          <p:cNvSpPr/>
          <p:nvPr/>
        </p:nvSpPr>
        <p:spPr>
          <a:xfrm>
            <a:off x="6034985" y="2464938"/>
            <a:ext cx="5879216" cy="735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13E86C95-A862-1F63-25C6-E6FDC6871B61}"/>
              </a:ext>
            </a:extLst>
          </p:cNvPr>
          <p:cNvSpPr txBox="1"/>
          <p:nvPr/>
        </p:nvSpPr>
        <p:spPr>
          <a:xfrm>
            <a:off x="6180289" y="2537494"/>
            <a:ext cx="55772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Engine Core</a:t>
            </a:r>
          </a:p>
          <a:p>
            <a:r>
              <a:rPr lang="en-US" altLang="zh-CN" dirty="0"/>
              <a:t>(</a:t>
            </a:r>
            <a:r>
              <a:rPr lang="en-US" altLang="zh-CN" dirty="0" err="1"/>
              <a:t>Metaclass</a:t>
            </a:r>
            <a:r>
              <a:rPr lang="en-US" altLang="zh-CN" dirty="0"/>
              <a:t> Binding &amp; World Construction)</a:t>
            </a:r>
          </a:p>
          <a:p>
            <a:endParaRPr lang="zh-CN" altLang="en-US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652AFA-E921-89D9-DC9A-72BA677045B7}"/>
              </a:ext>
            </a:extLst>
          </p:cNvPr>
          <p:cNvSpPr/>
          <p:nvPr/>
        </p:nvSpPr>
        <p:spPr>
          <a:xfrm>
            <a:off x="5997824" y="3741678"/>
            <a:ext cx="5953539" cy="735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8FAE87B6-D395-B860-9C6E-5954A3412988}"/>
              </a:ext>
            </a:extLst>
          </p:cNvPr>
          <p:cNvSpPr/>
          <p:nvPr/>
        </p:nvSpPr>
        <p:spPr>
          <a:xfrm>
            <a:off x="6258560" y="3330796"/>
            <a:ext cx="1463040" cy="3403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3944942-ACE3-B23F-FB81-A25485094D84}"/>
              </a:ext>
            </a:extLst>
          </p:cNvPr>
          <p:cNvSpPr txBox="1"/>
          <p:nvPr/>
        </p:nvSpPr>
        <p:spPr>
          <a:xfrm>
            <a:off x="6096000" y="3804920"/>
            <a:ext cx="56615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 Format</a:t>
            </a:r>
          </a:p>
          <a:p>
            <a:r>
              <a:rPr lang="en-US" altLang="zh-CN" dirty="0"/>
              <a:t>(Structured Folder Specification)</a:t>
            </a:r>
          </a:p>
          <a:p>
            <a:endParaRPr lang="zh-CN" altLang="en-US" dirty="0"/>
          </a:p>
        </p:txBody>
      </p:sp>
      <p:sp>
        <p:nvSpPr>
          <p:cNvPr id="28" name="箭头: 下 27">
            <a:extLst>
              <a:ext uri="{FF2B5EF4-FFF2-40B4-BE49-F238E27FC236}">
                <a16:creationId xmlns:a16="http://schemas.microsoft.com/office/drawing/2014/main" id="{22ED2EC4-CD77-D9FA-9966-ECEB5459E3C3}"/>
              </a:ext>
            </a:extLst>
          </p:cNvPr>
          <p:cNvSpPr/>
          <p:nvPr/>
        </p:nvSpPr>
        <p:spPr>
          <a:xfrm>
            <a:off x="6217920" y="4506937"/>
            <a:ext cx="1463040" cy="3403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1539B85-6B13-E7F0-099B-C2B9DCE26DFB}"/>
              </a:ext>
            </a:extLst>
          </p:cNvPr>
          <p:cNvSpPr/>
          <p:nvPr/>
        </p:nvSpPr>
        <p:spPr>
          <a:xfrm>
            <a:off x="5960662" y="4916594"/>
            <a:ext cx="5953539" cy="735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E11B1BE-4CD9-4968-E23B-9EE6D1F5ED93}"/>
              </a:ext>
            </a:extLst>
          </p:cNvPr>
          <p:cNvSpPr txBox="1"/>
          <p:nvPr/>
        </p:nvSpPr>
        <p:spPr>
          <a:xfrm>
            <a:off x="6096000" y="4916594"/>
            <a:ext cx="56032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</a:p>
          <a:p>
            <a:r>
              <a:rPr lang="en-US" altLang="zh-CN" dirty="0"/>
              <a:t>(Physics Execution Core)</a:t>
            </a:r>
          </a:p>
          <a:p>
            <a:endParaRPr lang="zh-CN" altLang="en-US" dirty="0"/>
          </a:p>
        </p:txBody>
      </p:sp>
      <p:sp>
        <p:nvSpPr>
          <p:cNvPr id="31" name="箭头: 下 30">
            <a:extLst>
              <a:ext uri="{FF2B5EF4-FFF2-40B4-BE49-F238E27FC236}">
                <a16:creationId xmlns:a16="http://schemas.microsoft.com/office/drawing/2014/main" id="{6137DDC3-1A47-99DE-5A1A-1EEADE1C752E}"/>
              </a:ext>
            </a:extLst>
          </p:cNvPr>
          <p:cNvSpPr/>
          <p:nvPr/>
        </p:nvSpPr>
        <p:spPr>
          <a:xfrm>
            <a:off x="6258560" y="5686031"/>
            <a:ext cx="1463040" cy="3403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A75830-77C4-BCDA-58B4-5E941BBE30FB}"/>
              </a:ext>
            </a:extLst>
          </p:cNvPr>
          <p:cNvSpPr/>
          <p:nvPr/>
        </p:nvSpPr>
        <p:spPr>
          <a:xfrm>
            <a:off x="5997824" y="6040237"/>
            <a:ext cx="5879216" cy="60029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979346EE-743F-FA19-143D-CE94321DFCEB}"/>
              </a:ext>
            </a:extLst>
          </p:cNvPr>
          <p:cNvSpPr txBox="1"/>
          <p:nvPr/>
        </p:nvSpPr>
        <p:spPr>
          <a:xfrm>
            <a:off x="6096000" y="6040237"/>
            <a:ext cx="57709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Interactive World</a:t>
            </a:r>
          </a:p>
          <a:p>
            <a:r>
              <a:rPr lang="en-US" altLang="zh-CN" dirty="0"/>
              <a:t>(Executable Reality)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545F713-FA3B-13C7-D425-F51FED188CBD}"/>
              </a:ext>
            </a:extLst>
          </p:cNvPr>
          <p:cNvSpPr/>
          <p:nvPr/>
        </p:nvSpPr>
        <p:spPr>
          <a:xfrm>
            <a:off x="231913" y="1000466"/>
            <a:ext cx="4655047" cy="9409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1B18399-EDE7-80AD-D84E-5FCD680E5F54}"/>
              </a:ext>
            </a:extLst>
          </p:cNvPr>
          <p:cNvSpPr txBox="1"/>
          <p:nvPr/>
        </p:nvSpPr>
        <p:spPr>
          <a:xfrm>
            <a:off x="350520" y="1122680"/>
            <a:ext cx="436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Arial" panose="020B0604020202020204" pitchFamily="34" charset="0"/>
              </a:rPr>
              <a:t>Metaclass Protocol</a:t>
            </a:r>
          </a:p>
          <a:p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0592AB-6E32-B543-3313-2BCF384794C4}"/>
              </a:ext>
            </a:extLst>
          </p:cNvPr>
          <p:cNvSpPr/>
          <p:nvPr/>
        </p:nvSpPr>
        <p:spPr>
          <a:xfrm>
            <a:off x="231912" y="2259481"/>
            <a:ext cx="4655047" cy="9409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EDB4668-299B-944F-B5F3-AB6C28D1F112}"/>
              </a:ext>
            </a:extLst>
          </p:cNvPr>
          <p:cNvSpPr/>
          <p:nvPr/>
        </p:nvSpPr>
        <p:spPr>
          <a:xfrm>
            <a:off x="240637" y="3587033"/>
            <a:ext cx="4655047" cy="9409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E31F9DD-118C-1988-461C-BE57143B6891}"/>
              </a:ext>
            </a:extLst>
          </p:cNvPr>
          <p:cNvSpPr txBox="1"/>
          <p:nvPr/>
        </p:nvSpPr>
        <p:spPr>
          <a:xfrm>
            <a:off x="396240" y="2377436"/>
            <a:ext cx="406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Arial" panose="020B0604020202020204" pitchFamily="34" charset="0"/>
              </a:rPr>
              <a:t>Root Metaclasses</a:t>
            </a:r>
          </a:p>
          <a:p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D05CC5-F17E-6B07-60A7-60D303D14CEF}"/>
              </a:ext>
            </a:extLst>
          </p:cNvPr>
          <p:cNvSpPr txBox="1"/>
          <p:nvPr/>
        </p:nvSpPr>
        <p:spPr>
          <a:xfrm>
            <a:off x="396240" y="3671152"/>
            <a:ext cx="4106407" cy="6503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Arial" panose="020B0604020202020204" pitchFamily="34" charset="0"/>
              </a:rPr>
              <a:t>Standard Metaclasses</a:t>
            </a:r>
          </a:p>
          <a:p>
            <a:endParaRPr lang="zh-CN" altLang="en-US" dirty="0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1B170B7-998A-EA7C-EB6D-968C79F55375}"/>
              </a:ext>
            </a:extLst>
          </p:cNvPr>
          <p:cNvSpPr/>
          <p:nvPr/>
        </p:nvSpPr>
        <p:spPr>
          <a:xfrm>
            <a:off x="240637" y="4689848"/>
            <a:ext cx="4655047" cy="9409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1FD5477-5926-2F25-D27C-0541366EDDC8}"/>
              </a:ext>
            </a:extLst>
          </p:cNvPr>
          <p:cNvSpPr txBox="1"/>
          <p:nvPr/>
        </p:nvSpPr>
        <p:spPr>
          <a:xfrm>
            <a:off x="396240" y="4775200"/>
            <a:ext cx="4241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>
                <a:latin typeface="Arial" panose="020B0604020202020204" pitchFamily="34" charset="0"/>
              </a:rPr>
              <a:t>Instance Specifications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74184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302FC6D-51C6-C2E8-E188-0E5B170917D0}"/>
              </a:ext>
            </a:extLst>
          </p:cNvPr>
          <p:cNvSpPr txBox="1"/>
          <p:nvPr/>
        </p:nvSpPr>
        <p:spPr>
          <a:xfrm>
            <a:off x="160682" y="61404"/>
            <a:ext cx="463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     </a:t>
            </a:r>
            <a:r>
              <a:rPr lang="en-US" altLang="zh-CN" dirty="0"/>
              <a:t>Structure</a:t>
            </a:r>
            <a:r>
              <a:rPr lang="zh-CN" altLang="en-US" dirty="0"/>
              <a:t>（</a:t>
            </a:r>
            <a:r>
              <a:rPr lang="en-US" altLang="zh-CN" dirty="0" err="1"/>
              <a:t>lefted</a:t>
            </a:r>
            <a:r>
              <a:rPr lang="zh-CN" altLang="en-US" dirty="0"/>
              <a:t>）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7" y="5223013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9A8832A-FE19-7ACA-FD28-70790794F229}"/>
              </a:ext>
            </a:extLst>
          </p:cNvPr>
          <p:cNvSpPr/>
          <p:nvPr/>
        </p:nvSpPr>
        <p:spPr>
          <a:xfrm>
            <a:off x="263387" y="3714371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7" y="2205729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9AD2901-6FDF-162C-8B38-EF110F1B81F6}"/>
              </a:ext>
            </a:extLst>
          </p:cNvPr>
          <p:cNvSpPr/>
          <p:nvPr/>
        </p:nvSpPr>
        <p:spPr>
          <a:xfrm>
            <a:off x="263386" y="699142"/>
            <a:ext cx="10023613" cy="144117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BAC0BA-B9F6-B738-DD62-7A3E5A346BEF}"/>
              </a:ext>
            </a:extLst>
          </p:cNvPr>
          <p:cNvSpPr txBox="1"/>
          <p:nvPr/>
        </p:nvSpPr>
        <p:spPr>
          <a:xfrm>
            <a:off x="10286999" y="5551004"/>
            <a:ext cx="1641614" cy="6078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15F8F6C-B247-4F9F-57BD-11FE36E309FF}"/>
              </a:ext>
            </a:extLst>
          </p:cNvPr>
          <p:cNvSpPr txBox="1"/>
          <p:nvPr/>
        </p:nvSpPr>
        <p:spPr>
          <a:xfrm>
            <a:off x="10346635" y="5674461"/>
            <a:ext cx="15819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Defines what can exist.</a:t>
            </a:r>
            <a:endParaRPr lang="zh-CN" altLang="zh-CN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  <a:p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DA625F-DB79-E13C-3DF5-A32E225CA54C}"/>
              </a:ext>
            </a:extLst>
          </p:cNvPr>
          <p:cNvSpPr txBox="1"/>
          <p:nvPr/>
        </p:nvSpPr>
        <p:spPr>
          <a:xfrm>
            <a:off x="10346635" y="522301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21FCAA7-AEA8-465B-C511-4E2F2C522EBB}"/>
              </a:ext>
            </a:extLst>
          </p:cNvPr>
          <p:cNvSpPr txBox="1"/>
          <p:nvPr/>
        </p:nvSpPr>
        <p:spPr>
          <a:xfrm>
            <a:off x="10316817" y="377521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2" name="文本框 9">
            <a:extLst>
              <a:ext uri="{FF2B5EF4-FFF2-40B4-BE49-F238E27FC236}">
                <a16:creationId xmlns:a16="http://schemas.microsoft.com/office/drawing/2014/main" id="{B2DA625F-DB79-E13C-3DF5-A32E225CA54C}"/>
              </a:ext>
            </a:extLst>
          </p:cNvPr>
          <p:cNvSpPr txBox="1"/>
          <p:nvPr/>
        </p:nvSpPr>
        <p:spPr>
          <a:xfrm>
            <a:off x="10286999" y="2256632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III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C2A5D9-5D3D-C51F-578A-2515EEAA019B}"/>
              </a:ext>
            </a:extLst>
          </p:cNvPr>
          <p:cNvSpPr txBox="1"/>
          <p:nvPr/>
        </p:nvSpPr>
        <p:spPr>
          <a:xfrm>
            <a:off x="10316817" y="755553"/>
            <a:ext cx="16416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Layer IV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E1CC0B1-C742-C1D2-3879-1A1C787AAEB8}"/>
              </a:ext>
            </a:extLst>
          </p:cNvPr>
          <p:cNvSpPr/>
          <p:nvPr/>
        </p:nvSpPr>
        <p:spPr>
          <a:xfrm>
            <a:off x="397565" y="5377070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411DDB-81B3-CBDB-1280-44E34A2E7FD1}"/>
              </a:ext>
            </a:extLst>
          </p:cNvPr>
          <p:cNvSpPr/>
          <p:nvPr/>
        </p:nvSpPr>
        <p:spPr>
          <a:xfrm>
            <a:off x="2830996" y="5379428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E1CC0B1-C742-C1D2-3879-1A1C787AAEB8}"/>
              </a:ext>
            </a:extLst>
          </p:cNvPr>
          <p:cNvSpPr/>
          <p:nvPr/>
        </p:nvSpPr>
        <p:spPr>
          <a:xfrm>
            <a:off x="5275192" y="5369615"/>
            <a:ext cx="2335696" cy="1147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119CACE-098C-D853-0794-659D050C64E5}"/>
              </a:ext>
            </a:extLst>
          </p:cNvPr>
          <p:cNvSpPr txBox="1"/>
          <p:nvPr/>
        </p:nvSpPr>
        <p:spPr>
          <a:xfrm>
            <a:off x="858909" y="5656428"/>
            <a:ext cx="18635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Metaclass</a:t>
            </a:r>
            <a:r>
              <a:rPr lang="en-US" altLang="zh-CN" dirty="0"/>
              <a:t> Protocol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2688AC50-E2AF-1186-327C-689605C141A6}"/>
              </a:ext>
            </a:extLst>
          </p:cNvPr>
          <p:cNvSpPr txBox="1"/>
          <p:nvPr/>
        </p:nvSpPr>
        <p:spPr>
          <a:xfrm>
            <a:off x="2990850" y="5674461"/>
            <a:ext cx="1928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Root </a:t>
            </a:r>
            <a:r>
              <a:rPr lang="en-US" altLang="zh-CN" dirty="0" err="1"/>
              <a:t>Metaclasses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3E599EA-AD15-712E-517F-545055F94E43}"/>
              </a:ext>
            </a:extLst>
          </p:cNvPr>
          <p:cNvSpPr txBox="1"/>
          <p:nvPr/>
        </p:nvSpPr>
        <p:spPr>
          <a:xfrm>
            <a:off x="5667375" y="5594254"/>
            <a:ext cx="21228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Standard </a:t>
            </a:r>
            <a:r>
              <a:rPr lang="en-US" altLang="zh-CN" dirty="0" err="1"/>
              <a:t>Metaclasses</a:t>
            </a:r>
            <a:endParaRPr lang="zh-CN" altLang="zh-CN" dirty="0"/>
          </a:p>
          <a:p>
            <a:endParaRPr lang="zh-CN" altLang="en-US" dirty="0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5407679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30F81AC-5C9C-E805-657C-5E35B498DDE1}"/>
              </a:ext>
            </a:extLst>
          </p:cNvPr>
          <p:cNvSpPr/>
          <p:nvPr/>
        </p:nvSpPr>
        <p:spPr>
          <a:xfrm>
            <a:off x="7739063" y="3871542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2403561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E9D2010-385F-3033-E18A-29441271BBCC}"/>
              </a:ext>
            </a:extLst>
          </p:cNvPr>
          <p:cNvSpPr/>
          <p:nvPr/>
        </p:nvSpPr>
        <p:spPr>
          <a:xfrm>
            <a:off x="7739063" y="896974"/>
            <a:ext cx="2371725" cy="104550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C5CE8ED-E519-6266-34EB-B6F678B77F95}"/>
              </a:ext>
            </a:extLst>
          </p:cNvPr>
          <p:cNvSpPr txBox="1"/>
          <p:nvPr/>
        </p:nvSpPr>
        <p:spPr>
          <a:xfrm>
            <a:off x="7790206" y="5637860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Structural Ontology Layer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32BD359-8653-2C9F-A737-8386CB3B5448}"/>
              </a:ext>
            </a:extLst>
          </p:cNvPr>
          <p:cNvSpPr txBox="1"/>
          <p:nvPr/>
        </p:nvSpPr>
        <p:spPr>
          <a:xfrm>
            <a:off x="7878312" y="3959879"/>
            <a:ext cx="22300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 World Representation Layer</a:t>
            </a:r>
            <a:endParaRPr lang="zh-CN" altLang="en-US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2B61124-2CFB-E673-6912-5871AB5E5678}"/>
              </a:ext>
            </a:extLst>
          </p:cNvPr>
          <p:cNvSpPr txBox="1"/>
          <p:nvPr/>
        </p:nvSpPr>
        <p:spPr>
          <a:xfrm>
            <a:off x="7997374" y="2686059"/>
            <a:ext cx="2201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 Runtime Core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E09D02-6A38-6402-226A-6C2C2CD1C8A9}"/>
              </a:ext>
            </a:extLst>
          </p:cNvPr>
          <p:cNvSpPr txBox="1"/>
          <p:nvPr/>
        </p:nvSpPr>
        <p:spPr>
          <a:xfrm>
            <a:off x="7997374" y="1200577"/>
            <a:ext cx="2077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Interface Layer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A194A77-2698-6734-26BA-D04C3728AB10}"/>
              </a:ext>
            </a:extLst>
          </p:cNvPr>
          <p:cNvSpPr/>
          <p:nvPr/>
        </p:nvSpPr>
        <p:spPr>
          <a:xfrm>
            <a:off x="397565" y="896974"/>
            <a:ext cx="2171700" cy="10455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472CEEF-0D18-975F-06D4-275A145BCB9C}"/>
              </a:ext>
            </a:extLst>
          </p:cNvPr>
          <p:cNvSpPr txBox="1"/>
          <p:nvPr/>
        </p:nvSpPr>
        <p:spPr>
          <a:xfrm>
            <a:off x="831576" y="1208417"/>
            <a:ext cx="1918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DF1260B-6BED-5C9E-5675-A8ACF527C57E}"/>
              </a:ext>
            </a:extLst>
          </p:cNvPr>
          <p:cNvSpPr/>
          <p:nvPr/>
        </p:nvSpPr>
        <p:spPr>
          <a:xfrm>
            <a:off x="2722496" y="870328"/>
            <a:ext cx="2171700" cy="10455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69625E8-747F-B578-DE59-E892A16D8F58}"/>
              </a:ext>
            </a:extLst>
          </p:cNvPr>
          <p:cNvSpPr txBox="1"/>
          <p:nvPr/>
        </p:nvSpPr>
        <p:spPr>
          <a:xfrm>
            <a:off x="3373403" y="1165788"/>
            <a:ext cx="1779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66318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矩形 61">
            <a:extLst>
              <a:ext uri="{FF2B5EF4-FFF2-40B4-BE49-F238E27FC236}">
                <a16:creationId xmlns:a16="http://schemas.microsoft.com/office/drawing/2014/main" id="{5BE91CDD-C68E-59CC-BA62-6297C4EBBCC4}"/>
              </a:ext>
            </a:extLst>
          </p:cNvPr>
          <p:cNvSpPr/>
          <p:nvPr/>
        </p:nvSpPr>
        <p:spPr>
          <a:xfrm>
            <a:off x="81998" y="5883965"/>
            <a:ext cx="2800350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A767945-2F1C-E6A0-D465-7D0850E0514B}"/>
              </a:ext>
            </a:extLst>
          </p:cNvPr>
          <p:cNvSpPr/>
          <p:nvPr/>
        </p:nvSpPr>
        <p:spPr>
          <a:xfrm>
            <a:off x="81998" y="5198169"/>
            <a:ext cx="2425810" cy="61577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1D13E15-AC94-633D-5CED-1A5950B4E791}"/>
              </a:ext>
            </a:extLst>
          </p:cNvPr>
          <p:cNvSpPr/>
          <p:nvPr/>
        </p:nvSpPr>
        <p:spPr>
          <a:xfrm>
            <a:off x="71396" y="4489659"/>
            <a:ext cx="2436412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292098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90712" y="4066792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85A8567-5450-9BDE-A4B3-74EC53705452}"/>
              </a:ext>
            </a:extLst>
          </p:cNvPr>
          <p:cNvSpPr txBox="1"/>
          <p:nvPr/>
        </p:nvSpPr>
        <p:spPr>
          <a:xfrm>
            <a:off x="81998" y="4489660"/>
            <a:ext cx="27581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1.This is a world model based on </a:t>
            </a:r>
            <a:r>
              <a:rPr lang="en-US" altLang="zh-CN" dirty="0" err="1"/>
              <a:t>SpatialLM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9490E92-BF83-D9A6-E7D6-9841493BFCED}"/>
              </a:ext>
            </a:extLst>
          </p:cNvPr>
          <p:cNvSpPr txBox="1"/>
          <p:nvPr/>
        </p:nvSpPr>
        <p:spPr>
          <a:xfrm>
            <a:off x="104361" y="4086765"/>
            <a:ext cx="13169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EC00E08-8A78-CF2F-D06A-505750BC38A3}"/>
              </a:ext>
            </a:extLst>
          </p:cNvPr>
          <p:cNvSpPr txBox="1"/>
          <p:nvPr/>
        </p:nvSpPr>
        <p:spPr>
          <a:xfrm>
            <a:off x="160682" y="61404"/>
            <a:ext cx="463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ENGINE     </a:t>
            </a:r>
            <a:r>
              <a:rPr lang="en-US" altLang="zh-CN" dirty="0"/>
              <a:t>User Experience Flow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F7F5F47-DAAD-CCCA-1923-407607941B71}"/>
              </a:ext>
            </a:extLst>
          </p:cNvPr>
          <p:cNvSpPr txBox="1"/>
          <p:nvPr/>
        </p:nvSpPr>
        <p:spPr>
          <a:xfrm>
            <a:off x="104361" y="800100"/>
            <a:ext cx="104112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err="1">
                <a:latin typeface="Britannic Bold" panose="020B0903060703020204" pitchFamily="34" charset="0"/>
              </a:rPr>
              <a:t>ceaserzhao</a:t>
            </a:r>
            <a:endParaRPr lang="zh-CN" altLang="en-US" sz="1100" dirty="0">
              <a:latin typeface="Britannic Bold" panose="020B0903060703020204" pitchFamily="34" charset="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A1544BB-AF39-1C71-DF33-8DB37E71A01D}"/>
              </a:ext>
            </a:extLst>
          </p:cNvPr>
          <p:cNvSpPr/>
          <p:nvPr/>
        </p:nvSpPr>
        <p:spPr>
          <a:xfrm>
            <a:off x="5610760" y="558284"/>
            <a:ext cx="2737025" cy="5048228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47E795D-4F29-B6D3-743C-EAC0C77F773F}"/>
              </a:ext>
            </a:extLst>
          </p:cNvPr>
          <p:cNvSpPr txBox="1"/>
          <p:nvPr/>
        </p:nvSpPr>
        <p:spPr>
          <a:xfrm>
            <a:off x="6341164" y="646115"/>
            <a:ext cx="2216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ADMIN</a:t>
            </a:r>
            <a:endParaRPr lang="zh-CN" altLang="en-US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CD7EADD-6243-D921-FA03-9AD0956E200C}"/>
              </a:ext>
            </a:extLst>
          </p:cNvPr>
          <p:cNvSpPr/>
          <p:nvPr/>
        </p:nvSpPr>
        <p:spPr>
          <a:xfrm>
            <a:off x="3436711" y="4471454"/>
            <a:ext cx="1604484" cy="55296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A147669C-5D84-B053-896E-C267DF095108}"/>
              </a:ext>
            </a:extLst>
          </p:cNvPr>
          <p:cNvSpPr/>
          <p:nvPr/>
        </p:nvSpPr>
        <p:spPr>
          <a:xfrm rot="3387979">
            <a:off x="2522053" y="3969231"/>
            <a:ext cx="1480950" cy="1048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169AFDA-52E0-C61E-B0EA-F90CCD6F3261}"/>
              </a:ext>
            </a:extLst>
          </p:cNvPr>
          <p:cNvSpPr txBox="1"/>
          <p:nvPr/>
        </p:nvSpPr>
        <p:spPr>
          <a:xfrm>
            <a:off x="3412207" y="4575579"/>
            <a:ext cx="1729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AME SCANNER</a:t>
            </a:r>
            <a:endParaRPr lang="zh-CN" altLang="en-US" dirty="0"/>
          </a:p>
        </p:txBody>
      </p:sp>
      <p:pic>
        <p:nvPicPr>
          <p:cNvPr id="42" name="图片 41" descr="徽标, 公司名称&#10;&#10;AI 生成的内容可能不正确。">
            <a:extLst>
              <a:ext uri="{FF2B5EF4-FFF2-40B4-BE49-F238E27FC236}">
                <a16:creationId xmlns:a16="http://schemas.microsoft.com/office/drawing/2014/main" id="{1185C566-0941-CCAE-731E-B1D0F3C298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66" y="1267033"/>
            <a:ext cx="930965" cy="930965"/>
          </a:xfrm>
          <a:prstGeom prst="rect">
            <a:avLst/>
          </a:prstGeom>
        </p:spPr>
      </p:pic>
      <p:sp>
        <p:nvSpPr>
          <p:cNvPr id="43" name="箭头: 右 42">
            <a:extLst>
              <a:ext uri="{FF2B5EF4-FFF2-40B4-BE49-F238E27FC236}">
                <a16:creationId xmlns:a16="http://schemas.microsoft.com/office/drawing/2014/main" id="{BE5614AD-DE1D-D731-B3EC-78B017719254}"/>
              </a:ext>
            </a:extLst>
          </p:cNvPr>
          <p:cNvSpPr/>
          <p:nvPr/>
        </p:nvSpPr>
        <p:spPr>
          <a:xfrm>
            <a:off x="8348870" y="1263650"/>
            <a:ext cx="984387" cy="46140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7507A5E4-71F8-791F-BCCC-06F99122A4FE}"/>
              </a:ext>
            </a:extLst>
          </p:cNvPr>
          <p:cNvSpPr/>
          <p:nvPr/>
        </p:nvSpPr>
        <p:spPr>
          <a:xfrm>
            <a:off x="8887789" y="139060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93CA584-C824-EF90-2C46-ADFFCFEF5D1B}"/>
              </a:ext>
            </a:extLst>
          </p:cNvPr>
          <p:cNvSpPr txBox="1"/>
          <p:nvPr/>
        </p:nvSpPr>
        <p:spPr>
          <a:xfrm>
            <a:off x="8875955" y="1341008"/>
            <a:ext cx="10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2</a:t>
            </a:r>
            <a:endParaRPr lang="zh-CN" altLang="en-US" sz="12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F354C7C6-FB1B-9D3D-BFC1-05AE942125F9}"/>
              </a:ext>
            </a:extLst>
          </p:cNvPr>
          <p:cNvSpPr txBox="1"/>
          <p:nvPr/>
        </p:nvSpPr>
        <p:spPr>
          <a:xfrm>
            <a:off x="104361" y="5151804"/>
            <a:ext cx="2251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2.A series of complex processes</a:t>
            </a:r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95B0E-594C-85D8-8168-93220D4456C5}"/>
              </a:ext>
            </a:extLst>
          </p:cNvPr>
          <p:cNvSpPr txBox="1"/>
          <p:nvPr/>
        </p:nvSpPr>
        <p:spPr>
          <a:xfrm>
            <a:off x="119818" y="1002639"/>
            <a:ext cx="11308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2.23.2026</a:t>
            </a:r>
            <a:endParaRPr lang="zh-CN" altLang="en-US" sz="9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A94C40C3-64B0-CCA4-53B5-999BD45EED56}"/>
              </a:ext>
            </a:extLst>
          </p:cNvPr>
          <p:cNvSpPr/>
          <p:nvPr/>
        </p:nvSpPr>
        <p:spPr>
          <a:xfrm>
            <a:off x="5916646" y="4489659"/>
            <a:ext cx="2329070" cy="919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04022" y="456151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FFDC12D-85AB-9D4D-9545-B52B2D7A92B1}"/>
              </a:ext>
            </a:extLst>
          </p:cNvPr>
          <p:cNvSpPr txBox="1"/>
          <p:nvPr/>
        </p:nvSpPr>
        <p:spPr>
          <a:xfrm rot="2135733">
            <a:off x="3502939" y="3728810"/>
            <a:ext cx="2800350" cy="246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/>
              <a:t>SKILLS, Or rather, a kind of standard</a:t>
            </a:r>
            <a:endParaRPr lang="zh-CN" altLang="en-US" sz="10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B0104898-28DC-AACA-4AAD-10E7B0A39FC3}"/>
              </a:ext>
            </a:extLst>
          </p:cNvPr>
          <p:cNvSpPr txBox="1"/>
          <p:nvPr/>
        </p:nvSpPr>
        <p:spPr>
          <a:xfrm>
            <a:off x="7976789" y="4512965"/>
            <a:ext cx="126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3</a:t>
            </a:r>
            <a:endParaRPr lang="zh-CN" altLang="en-US" sz="12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01BC64A-0B9C-7C8D-5128-C63671FE39D0}"/>
              </a:ext>
            </a:extLst>
          </p:cNvPr>
          <p:cNvSpPr txBox="1"/>
          <p:nvPr/>
        </p:nvSpPr>
        <p:spPr>
          <a:xfrm>
            <a:off x="6242973" y="4751746"/>
            <a:ext cx="1992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Information pool</a:t>
            </a:r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FCD0B7A-C985-AB96-0D55-2070385574F8}"/>
              </a:ext>
            </a:extLst>
          </p:cNvPr>
          <p:cNvSpPr txBox="1"/>
          <p:nvPr/>
        </p:nvSpPr>
        <p:spPr>
          <a:xfrm>
            <a:off x="71396" y="5834724"/>
            <a:ext cx="28475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3.A brand new data format, similar to JSON, used to describe the world.</a:t>
            </a:r>
            <a:endParaRPr lang="zh-CN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7C96C36-189C-C3D9-BE5B-FAA9F27B3497}"/>
              </a:ext>
            </a:extLst>
          </p:cNvPr>
          <p:cNvSpPr/>
          <p:nvPr/>
        </p:nvSpPr>
        <p:spPr>
          <a:xfrm>
            <a:off x="9355381" y="1128091"/>
            <a:ext cx="1990410" cy="80076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F137B836-92A7-B07C-ED52-F2FE7B306DD5}"/>
              </a:ext>
            </a:extLst>
          </p:cNvPr>
          <p:cNvSpPr txBox="1"/>
          <p:nvPr/>
        </p:nvSpPr>
        <p:spPr>
          <a:xfrm>
            <a:off x="9509259" y="1361799"/>
            <a:ext cx="1768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91FF571D-A82E-A345-2CD6-61B33F45B558}"/>
              </a:ext>
            </a:extLst>
          </p:cNvPr>
          <p:cNvSpPr/>
          <p:nvPr/>
        </p:nvSpPr>
        <p:spPr>
          <a:xfrm>
            <a:off x="11146596" y="1206394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箭头: 下 22">
            <a:extLst>
              <a:ext uri="{FF2B5EF4-FFF2-40B4-BE49-F238E27FC236}">
                <a16:creationId xmlns:a16="http://schemas.microsoft.com/office/drawing/2014/main" id="{4F7D1D11-8F9D-80B6-8645-FCB0F675687E}"/>
              </a:ext>
            </a:extLst>
          </p:cNvPr>
          <p:cNvSpPr/>
          <p:nvPr/>
        </p:nvSpPr>
        <p:spPr>
          <a:xfrm rot="18322881">
            <a:off x="4537787" y="1914341"/>
            <a:ext cx="65706" cy="36525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箭头: 右 66">
            <a:extLst>
              <a:ext uri="{FF2B5EF4-FFF2-40B4-BE49-F238E27FC236}">
                <a16:creationId xmlns:a16="http://schemas.microsoft.com/office/drawing/2014/main" id="{1AAC0EBF-B5EE-90C9-23A8-F154B4C463E8}"/>
              </a:ext>
            </a:extLst>
          </p:cNvPr>
          <p:cNvSpPr/>
          <p:nvPr/>
        </p:nvSpPr>
        <p:spPr>
          <a:xfrm rot="1033216">
            <a:off x="4784492" y="5102124"/>
            <a:ext cx="1483561" cy="1444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箭头: 右 67">
            <a:extLst>
              <a:ext uri="{FF2B5EF4-FFF2-40B4-BE49-F238E27FC236}">
                <a16:creationId xmlns:a16="http://schemas.microsoft.com/office/drawing/2014/main" id="{B53A8CC6-455A-49B3-EEAA-4547947B409E}"/>
              </a:ext>
            </a:extLst>
          </p:cNvPr>
          <p:cNvSpPr/>
          <p:nvPr/>
        </p:nvSpPr>
        <p:spPr>
          <a:xfrm rot="3389305" flipV="1">
            <a:off x="3481763" y="3198494"/>
            <a:ext cx="3545715" cy="139763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593706C-6739-ABAB-6769-0B8812CB2B71}"/>
              </a:ext>
            </a:extLst>
          </p:cNvPr>
          <p:cNvSpPr/>
          <p:nvPr/>
        </p:nvSpPr>
        <p:spPr>
          <a:xfrm>
            <a:off x="5931042" y="3179160"/>
            <a:ext cx="2318603" cy="7734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34FB12DA-509A-40D4-9871-CF55B5D22465}"/>
              </a:ext>
            </a:extLst>
          </p:cNvPr>
          <p:cNvSpPr/>
          <p:nvPr/>
        </p:nvSpPr>
        <p:spPr>
          <a:xfrm rot="10800000">
            <a:off x="6663690" y="3981450"/>
            <a:ext cx="842851" cy="45467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7568D3FC-8C82-1D80-EB73-EC98129BF820}"/>
              </a:ext>
            </a:extLst>
          </p:cNvPr>
          <p:cNvSpPr txBox="1"/>
          <p:nvPr/>
        </p:nvSpPr>
        <p:spPr>
          <a:xfrm>
            <a:off x="6189644" y="3345992"/>
            <a:ext cx="19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Assign </a:t>
            </a:r>
            <a:r>
              <a:rPr lang="en-US" altLang="zh-CN" dirty="0" err="1"/>
              <a:t>metaclass</a:t>
            </a:r>
            <a:endParaRPr lang="zh-CN" altLang="en-US" dirty="0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4A8AC55-15E7-0AD6-2A4C-34CAA155B5AA}"/>
              </a:ext>
            </a:extLst>
          </p:cNvPr>
          <p:cNvSpPr/>
          <p:nvPr/>
        </p:nvSpPr>
        <p:spPr>
          <a:xfrm>
            <a:off x="5880445" y="1982778"/>
            <a:ext cx="2384170" cy="723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箭头: 下 50">
            <a:extLst>
              <a:ext uri="{FF2B5EF4-FFF2-40B4-BE49-F238E27FC236}">
                <a16:creationId xmlns:a16="http://schemas.microsoft.com/office/drawing/2014/main" id="{3BE3E1B4-1152-F8FA-213D-AA5F3BFDA3EC}"/>
              </a:ext>
            </a:extLst>
          </p:cNvPr>
          <p:cNvSpPr/>
          <p:nvPr/>
        </p:nvSpPr>
        <p:spPr>
          <a:xfrm rot="10800000">
            <a:off x="6603325" y="2749480"/>
            <a:ext cx="837623" cy="339846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41658801-D7BD-55B7-2474-8D0BEF5FEF16}"/>
              </a:ext>
            </a:extLst>
          </p:cNvPr>
          <p:cNvSpPr txBox="1"/>
          <p:nvPr/>
        </p:nvSpPr>
        <p:spPr>
          <a:xfrm>
            <a:off x="6078672" y="2176113"/>
            <a:ext cx="2247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Layer</a:t>
            </a:r>
            <a:endParaRPr lang="zh-CN" altLang="en-US" dirty="0"/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30ED689D-CFD0-5C86-3742-42F3C9605899}"/>
              </a:ext>
            </a:extLst>
          </p:cNvPr>
          <p:cNvSpPr/>
          <p:nvPr/>
        </p:nvSpPr>
        <p:spPr>
          <a:xfrm>
            <a:off x="8030138" y="2044088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7C41404F-074F-EFA6-6F99-23FE4C2D4586}"/>
              </a:ext>
            </a:extLst>
          </p:cNvPr>
          <p:cNvSpPr/>
          <p:nvPr/>
        </p:nvSpPr>
        <p:spPr>
          <a:xfrm>
            <a:off x="8011285" y="3197652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937F8CD2-EC51-1E78-10BC-7C12FA3BA907}"/>
              </a:ext>
            </a:extLst>
          </p:cNvPr>
          <p:cNvSpPr txBox="1"/>
          <p:nvPr/>
        </p:nvSpPr>
        <p:spPr>
          <a:xfrm>
            <a:off x="7969472" y="3148052"/>
            <a:ext cx="1839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</a:t>
            </a:r>
            <a:endParaRPr lang="zh-CN" altLang="en-US" sz="1200" dirty="0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DCD6E6-4DD3-A42E-FC8F-06650FA5531D}"/>
              </a:ext>
            </a:extLst>
          </p:cNvPr>
          <p:cNvSpPr txBox="1"/>
          <p:nvPr/>
        </p:nvSpPr>
        <p:spPr>
          <a:xfrm>
            <a:off x="8013231" y="1986044"/>
            <a:ext cx="1364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5</a:t>
            </a:r>
            <a:endParaRPr lang="zh-CN" altLang="en-US" sz="1200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373CE95-D959-746B-A204-226380DEDD0D}"/>
              </a:ext>
            </a:extLst>
          </p:cNvPr>
          <p:cNvSpPr/>
          <p:nvPr/>
        </p:nvSpPr>
        <p:spPr>
          <a:xfrm>
            <a:off x="2571750" y="5198169"/>
            <a:ext cx="2731294" cy="61302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5F194D1A-7042-EE1E-02A6-D6004849EA36}"/>
              </a:ext>
            </a:extLst>
          </p:cNvPr>
          <p:cNvSpPr txBox="1"/>
          <p:nvPr/>
        </p:nvSpPr>
        <p:spPr>
          <a:xfrm>
            <a:off x="2571750" y="5159521"/>
            <a:ext cx="27312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4. </a:t>
            </a:r>
            <a:r>
              <a:rPr lang="en-US" altLang="zh-CN" sz="1200" dirty="0" err="1"/>
              <a:t>mataclass</a:t>
            </a:r>
            <a:r>
              <a:rPr lang="en-US" altLang="zh-CN" sz="1200" dirty="0"/>
              <a:t> is the cornerstone of AME; see its separate GitHub repository for details.</a:t>
            </a:r>
            <a:endParaRPr lang="zh-CN" altLang="en-US" sz="1200" dirty="0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3014845" y="5897094"/>
            <a:ext cx="3058933" cy="85055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BE416108-03E4-858E-04F0-4F7923865D5C}"/>
              </a:ext>
            </a:extLst>
          </p:cNvPr>
          <p:cNvSpPr txBox="1"/>
          <p:nvPr/>
        </p:nvSpPr>
        <p:spPr>
          <a:xfrm>
            <a:off x="11112501" y="1172152"/>
            <a:ext cx="1710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7</a:t>
            </a:r>
            <a:endParaRPr lang="zh-CN" altLang="en-US" sz="1200" dirty="0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BC45CBCE-4304-4AD3-A10E-409620158124}"/>
              </a:ext>
            </a:extLst>
          </p:cNvPr>
          <p:cNvSpPr/>
          <p:nvPr/>
        </p:nvSpPr>
        <p:spPr>
          <a:xfrm>
            <a:off x="5869021" y="1027879"/>
            <a:ext cx="2436282" cy="7046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箭头: 下 78">
            <a:extLst>
              <a:ext uri="{FF2B5EF4-FFF2-40B4-BE49-F238E27FC236}">
                <a16:creationId xmlns:a16="http://schemas.microsoft.com/office/drawing/2014/main" id="{08B21885-2D1C-21B2-603A-E36CC153285A}"/>
              </a:ext>
            </a:extLst>
          </p:cNvPr>
          <p:cNvSpPr/>
          <p:nvPr/>
        </p:nvSpPr>
        <p:spPr>
          <a:xfrm rot="10800000">
            <a:off x="6702087" y="1767561"/>
            <a:ext cx="640098" cy="160383"/>
          </a:xfrm>
          <a:prstGeom prst="down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6DF9F9BF-F8BA-3FE0-AB81-87022E50B70D}"/>
              </a:ext>
            </a:extLst>
          </p:cNvPr>
          <p:cNvSpPr/>
          <p:nvPr/>
        </p:nvSpPr>
        <p:spPr>
          <a:xfrm>
            <a:off x="6242973" y="5811194"/>
            <a:ext cx="2692369" cy="97760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01576ACD-394C-E837-AB44-FDD2ED9C85D9}"/>
              </a:ext>
            </a:extLst>
          </p:cNvPr>
          <p:cNvSpPr/>
          <p:nvPr/>
        </p:nvSpPr>
        <p:spPr>
          <a:xfrm>
            <a:off x="9040396" y="6469282"/>
            <a:ext cx="3080208" cy="33259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3D2D27DB-7E96-825E-563C-1541A22C23BA}"/>
              </a:ext>
            </a:extLst>
          </p:cNvPr>
          <p:cNvSpPr txBox="1"/>
          <p:nvPr/>
        </p:nvSpPr>
        <p:spPr>
          <a:xfrm>
            <a:off x="6170218" y="1206981"/>
            <a:ext cx="22659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Start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BUILD</a:t>
            </a:r>
            <a:endParaRPr lang="zh-CN" altLang="en-US" dirty="0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E675F6B-D8E9-A1D8-9456-A4790EFF5AB1}"/>
              </a:ext>
            </a:extLst>
          </p:cNvPr>
          <p:cNvSpPr/>
          <p:nvPr/>
        </p:nvSpPr>
        <p:spPr>
          <a:xfrm>
            <a:off x="8040197" y="1074265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6CC673A-296F-5205-F152-5407116CFFE8}"/>
              </a:ext>
            </a:extLst>
          </p:cNvPr>
          <p:cNvSpPr txBox="1"/>
          <p:nvPr/>
        </p:nvSpPr>
        <p:spPr>
          <a:xfrm>
            <a:off x="8043564" y="1024206"/>
            <a:ext cx="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6</a:t>
            </a:r>
            <a:endParaRPr lang="zh-CN" altLang="en-US" sz="12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1BE2EE4-9370-3384-0C5C-F5475CF6EB39}"/>
              </a:ext>
            </a:extLst>
          </p:cNvPr>
          <p:cNvSpPr txBox="1"/>
          <p:nvPr/>
        </p:nvSpPr>
        <p:spPr>
          <a:xfrm>
            <a:off x="6289903" y="5811194"/>
            <a:ext cx="26570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highlight>
                  <a:srgbClr val="00FF00"/>
                </a:highlight>
              </a:rPr>
              <a:t>7. It's an interactive world,(folders) are not single files.</a:t>
            </a:r>
            <a:endParaRPr lang="zh-CN" altLang="en-US" dirty="0">
              <a:highlight>
                <a:srgbClr val="00FF00"/>
              </a:highlight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B16AB4C-45CF-6116-4728-3E9F3F381D9D}"/>
              </a:ext>
            </a:extLst>
          </p:cNvPr>
          <p:cNvSpPr txBox="1"/>
          <p:nvPr/>
        </p:nvSpPr>
        <p:spPr>
          <a:xfrm>
            <a:off x="9047918" y="6496445"/>
            <a:ext cx="32189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/>
              <a:t>6. It is also the main program of AME ADMIN</a:t>
            </a:r>
            <a:endParaRPr lang="zh-CN" altLang="en-US" sz="11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7EEC670-B147-F19E-34A8-EE9B1F457066}"/>
              </a:ext>
            </a:extLst>
          </p:cNvPr>
          <p:cNvSpPr txBox="1"/>
          <p:nvPr/>
        </p:nvSpPr>
        <p:spPr>
          <a:xfrm>
            <a:off x="2996061" y="5874222"/>
            <a:ext cx="30262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/>
              <a:t>5. Here you set the world parameters, and AME will automatically generate a JSON file.</a:t>
            </a:r>
            <a:endParaRPr lang="zh-CN" altLang="en-US" sz="1400" dirty="0"/>
          </a:p>
        </p:txBody>
      </p:sp>
      <p:sp>
        <p:nvSpPr>
          <p:cNvPr id="70" name="箭头: 右 69">
            <a:extLst>
              <a:ext uri="{FF2B5EF4-FFF2-40B4-BE49-F238E27FC236}">
                <a16:creationId xmlns:a16="http://schemas.microsoft.com/office/drawing/2014/main" id="{7AB8C733-12FE-5B31-6CC9-F008E6E8D0ED}"/>
              </a:ext>
            </a:extLst>
          </p:cNvPr>
          <p:cNvSpPr/>
          <p:nvPr/>
        </p:nvSpPr>
        <p:spPr>
          <a:xfrm>
            <a:off x="11213820" y="1479507"/>
            <a:ext cx="588895" cy="943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FC809DE-A36D-60B3-61FF-F5B171ACFA67}"/>
              </a:ext>
            </a:extLst>
          </p:cNvPr>
          <p:cNvSpPr txBox="1"/>
          <p:nvPr/>
        </p:nvSpPr>
        <p:spPr>
          <a:xfrm>
            <a:off x="11277600" y="-19826"/>
            <a:ext cx="13032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Finished product</a:t>
            </a:r>
            <a:endParaRPr lang="zh-CN" altLang="en-US" sz="14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82" name="箭头: 下 81">
            <a:extLst>
              <a:ext uri="{FF2B5EF4-FFF2-40B4-BE49-F238E27FC236}">
                <a16:creationId xmlns:a16="http://schemas.microsoft.com/office/drawing/2014/main" id="{4DA12131-07E0-0743-2D0F-2CE81EA318A2}"/>
              </a:ext>
            </a:extLst>
          </p:cNvPr>
          <p:cNvSpPr/>
          <p:nvPr/>
        </p:nvSpPr>
        <p:spPr>
          <a:xfrm rot="10800000">
            <a:off x="11802715" y="506895"/>
            <a:ext cx="121108" cy="106151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57BF15-77F4-81A2-80C5-9FFF0EB9D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ABOUT US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24DB54-D574-FD55-FE53-49E9081DB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8C643F-7FED-4F25-11FD-DAC5BBAF0AF5}"/>
              </a:ext>
            </a:extLst>
          </p:cNvPr>
          <p:cNvSpPr/>
          <p:nvPr/>
        </p:nvSpPr>
        <p:spPr>
          <a:xfrm>
            <a:off x="725557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EF4A6D-6FFF-68CC-E8B6-65E830DB7F34}"/>
              </a:ext>
            </a:extLst>
          </p:cNvPr>
          <p:cNvSpPr/>
          <p:nvPr/>
        </p:nvSpPr>
        <p:spPr>
          <a:xfrm>
            <a:off x="4139648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48C643F-7FED-4F25-11FD-DAC5BBAF0AF5}"/>
              </a:ext>
            </a:extLst>
          </p:cNvPr>
          <p:cNvSpPr/>
          <p:nvPr/>
        </p:nvSpPr>
        <p:spPr>
          <a:xfrm>
            <a:off x="7553739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2C8D887-4AF6-623B-0CF0-444AA513A77A}"/>
              </a:ext>
            </a:extLst>
          </p:cNvPr>
          <p:cNvSpPr txBox="1"/>
          <p:nvPr/>
        </p:nvSpPr>
        <p:spPr>
          <a:xfrm>
            <a:off x="838200" y="1470991"/>
            <a:ext cx="33014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Ceaserzhao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(</a:t>
            </a:r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Wenzhang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Zhao)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32519DF-4396-EE40-F196-1B2B8184F6F4}"/>
              </a:ext>
            </a:extLst>
          </p:cNvPr>
          <p:cNvSpPr txBox="1"/>
          <p:nvPr/>
        </p:nvSpPr>
        <p:spPr>
          <a:xfrm>
            <a:off x="7603435" y="1570383"/>
            <a:ext cx="237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Nissunay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A7EB2D-D42C-32BB-753D-7542AF7493F8}"/>
              </a:ext>
            </a:extLst>
          </p:cNvPr>
          <p:cNvSpPr txBox="1"/>
          <p:nvPr/>
        </p:nvSpPr>
        <p:spPr>
          <a:xfrm>
            <a:off x="4212534" y="1506022"/>
            <a:ext cx="236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Evan Tang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F3FAF57-E3CA-6BCE-6225-D2B47D2E85FB}"/>
              </a:ext>
            </a:extLst>
          </p:cNvPr>
          <p:cNvSpPr txBox="1"/>
          <p:nvPr/>
        </p:nvSpPr>
        <p:spPr>
          <a:xfrm>
            <a:off x="803412" y="2993796"/>
            <a:ext cx="198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FROM:CHINA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BFAEE57-6187-1354-C277-3E1F0F28F38D}"/>
              </a:ext>
            </a:extLst>
          </p:cNvPr>
          <p:cNvSpPr txBox="1"/>
          <p:nvPr/>
        </p:nvSpPr>
        <p:spPr>
          <a:xfrm>
            <a:off x="7894983" y="3000855"/>
            <a:ext cx="2292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FROM:MEXICO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729016-4456-C71E-DC83-89A95A42B7D7}"/>
              </a:ext>
            </a:extLst>
          </p:cNvPr>
          <p:cNvSpPr txBox="1"/>
          <p:nvPr/>
        </p:nvSpPr>
        <p:spPr>
          <a:xfrm>
            <a:off x="4400549" y="2993796"/>
            <a:ext cx="198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FROM:CHINA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C95FC8B-340B-A0D6-AFC2-9FE45D242A91}"/>
              </a:ext>
            </a:extLst>
          </p:cNvPr>
          <p:cNvSpPr txBox="1"/>
          <p:nvPr/>
        </p:nvSpPr>
        <p:spPr>
          <a:xfrm>
            <a:off x="879613" y="2390361"/>
            <a:ext cx="2574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Founder &amp; CEO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837F801-F554-A99E-4805-1F1B370A3691}"/>
              </a:ext>
            </a:extLst>
          </p:cNvPr>
          <p:cNvSpPr txBox="1"/>
          <p:nvPr/>
        </p:nvSpPr>
        <p:spPr>
          <a:xfrm>
            <a:off x="879613" y="4184374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</a:t>
            </a:r>
            <a:r>
              <a:rPr lang="en-US" altLang="zh-CN" dirty="0" err="1"/>
              <a:t>zbbsdsb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5057EE-A3DF-011D-6AE0-0A7DB9DDB33E}"/>
              </a:ext>
            </a:extLst>
          </p:cNvPr>
          <p:cNvSpPr txBox="1"/>
          <p:nvPr/>
        </p:nvSpPr>
        <p:spPr>
          <a:xfrm>
            <a:off x="4409661" y="4239602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://github.com/tangsky123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0DD644-9AEC-2D9D-341B-D203AB0E32BA}"/>
              </a:ext>
            </a:extLst>
          </p:cNvPr>
          <p:cNvSpPr txBox="1"/>
          <p:nvPr/>
        </p:nvSpPr>
        <p:spPr>
          <a:xfrm>
            <a:off x="7894983" y="4219577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</a:t>
            </a:r>
            <a:r>
              <a:rPr lang="en-US" altLang="zh-CN" dirty="0" err="1"/>
              <a:t>AmaiDonatsu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1082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DA2C4D-46C0-CE4A-D7D4-8580EF1CA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补充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C3539-7607-5D17-C602-79B4E6F12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zh-CN" altLang="en-US" b="1" dirty="0"/>
              <a:t>🧩 现在我给你一个视觉建议</a:t>
            </a:r>
          </a:p>
          <a:p>
            <a:r>
              <a:rPr lang="zh-CN" altLang="en-US" dirty="0"/>
              <a:t>左侧用冷色（蓝）</a:t>
            </a:r>
          </a:p>
          <a:p>
            <a:r>
              <a:rPr lang="zh-CN" altLang="en-US" dirty="0"/>
              <a:t>右侧用结构色（灰</a:t>
            </a:r>
            <a:r>
              <a:rPr lang="en-US" altLang="zh-CN" dirty="0"/>
              <a:t>/</a:t>
            </a:r>
            <a:r>
              <a:rPr lang="zh-CN" altLang="en-US" dirty="0"/>
              <a:t>白）</a:t>
            </a:r>
          </a:p>
          <a:p>
            <a:r>
              <a:rPr lang="en-US" altLang="zh-CN" dirty="0"/>
              <a:t>GENIS </a:t>
            </a:r>
            <a:r>
              <a:rPr lang="zh-CN" altLang="en-US" dirty="0"/>
              <a:t>用红色（物理核心）</a:t>
            </a:r>
          </a:p>
          <a:p>
            <a:r>
              <a:rPr lang="en-US" altLang="zh-CN" dirty="0"/>
              <a:t>Interactive World </a:t>
            </a:r>
            <a:r>
              <a:rPr lang="zh-CN" altLang="en-US" dirty="0"/>
              <a:t>用绿色（结果）</a:t>
            </a:r>
          </a:p>
          <a:p>
            <a:r>
              <a:rPr lang="zh-CN" altLang="en-US" dirty="0"/>
              <a:t>颜色要讲故事。</a:t>
            </a:r>
          </a:p>
          <a:p>
            <a:br>
              <a:rPr lang="zh-CN" altLang="en-US" dirty="0"/>
            </a:br>
            <a:endParaRPr lang="zh-CN" altLang="en-US" dirty="0"/>
          </a:p>
          <a:p>
            <a:r>
              <a:rPr lang="zh-CN" altLang="en-US" b="1" dirty="0"/>
              <a:t>📌 第二页将会是：</a:t>
            </a:r>
          </a:p>
          <a:p>
            <a:r>
              <a:rPr lang="en-US" altLang="zh-CN" dirty="0"/>
              <a:t>User Flow</a:t>
            </a:r>
          </a:p>
          <a:p>
            <a:r>
              <a:rPr lang="zh-CN" altLang="en-US" dirty="0"/>
              <a:t>但第一页必须是：</a:t>
            </a:r>
          </a:p>
          <a:p>
            <a:r>
              <a:rPr lang="zh-CN" altLang="en-US" dirty="0"/>
              <a:t>“结构权力分布图”。</a:t>
            </a:r>
          </a:p>
          <a:p>
            <a:br>
              <a:rPr lang="zh-CN" altLang="en-US" dirty="0"/>
            </a:br>
            <a:endParaRPr lang="zh-CN" altLang="en-US" dirty="0"/>
          </a:p>
          <a:p>
            <a:r>
              <a:rPr lang="zh-CN" altLang="en-US" b="1" dirty="0"/>
              <a:t>🔥 现在我问你一个关键问题</a:t>
            </a:r>
          </a:p>
          <a:p>
            <a:r>
              <a:rPr lang="en-US" altLang="zh-CN" dirty="0" err="1"/>
              <a:t>Metaclass</a:t>
            </a:r>
            <a:r>
              <a:rPr lang="en-US" altLang="zh-CN" dirty="0"/>
              <a:t> System </a:t>
            </a:r>
            <a:r>
              <a:rPr lang="zh-CN" altLang="en-US" dirty="0"/>
              <a:t>是否拥有版本号？</a:t>
            </a:r>
          </a:p>
          <a:p>
            <a:r>
              <a:rPr lang="zh-CN" altLang="en-US" dirty="0"/>
              <a:t>如果有：</a:t>
            </a:r>
          </a:p>
          <a:p>
            <a:r>
              <a:rPr lang="zh-CN" altLang="en-US" dirty="0"/>
              <a:t>我们可以在图上写：</a:t>
            </a:r>
          </a:p>
          <a:p>
            <a:r>
              <a:rPr lang="en-US" altLang="zh-CN" dirty="0" err="1"/>
              <a:t>Metaclass</a:t>
            </a:r>
            <a:r>
              <a:rPr lang="en-US" altLang="zh-CN" dirty="0"/>
              <a:t> Standard v0.1</a:t>
            </a:r>
          </a:p>
          <a:p>
            <a:r>
              <a:rPr lang="zh-CN" altLang="en-US" dirty="0"/>
              <a:t>这会极度专业。</a:t>
            </a:r>
          </a:p>
          <a:p>
            <a:r>
              <a:rPr lang="zh-CN" altLang="en-US" dirty="0"/>
              <a:t>如果没有，</a:t>
            </a:r>
          </a:p>
          <a:p>
            <a:r>
              <a:rPr lang="zh-CN" altLang="en-US" dirty="0"/>
              <a:t>我们可以开始定义版本。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564095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A98BA7-0EAD-B7F5-0A06-AF08CCC84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91C089-2DD9-4D07-8D63-C8ED9D7BC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3440" y="2499360"/>
            <a:ext cx="11089088" cy="41096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9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Thx!</a:t>
            </a:r>
            <a:endParaRPr lang="zh-CN" altLang="en-US" sz="9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F2F8F8-0315-B701-59E8-0BEF377B872F}"/>
              </a:ext>
            </a:extLst>
          </p:cNvPr>
          <p:cNvSpPr txBox="1"/>
          <p:nvPr/>
        </p:nvSpPr>
        <p:spPr>
          <a:xfrm>
            <a:off x="7640320" y="2346960"/>
            <a:ext cx="6024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dirty="0"/>
              <a:t>:3</a:t>
            </a:r>
            <a:endParaRPr lang="zh-CN" altLang="en-US" sz="9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54208-BF2E-D901-D202-AC45D0777428}"/>
              </a:ext>
            </a:extLst>
          </p:cNvPr>
          <p:cNvSpPr txBox="1"/>
          <p:nvPr/>
        </p:nvSpPr>
        <p:spPr>
          <a:xfrm>
            <a:off x="127000" y="2433320"/>
            <a:ext cx="29413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&lt;3</a:t>
            </a:r>
            <a:endParaRPr lang="zh-CN" altLang="en-US" sz="9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969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488</Words>
  <Application>Microsoft Office PowerPoint</Application>
  <PresentationFormat>宽屏</PresentationFormat>
  <Paragraphs>120</Paragraphs>
  <Slides>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BIZ UDGothic</vt:lpstr>
      <vt:lpstr>MS UI Gothic</vt:lpstr>
      <vt:lpstr>Noto Sans JP Black</vt:lpstr>
      <vt:lpstr>Noto Sans SC Black</vt:lpstr>
      <vt:lpstr>等线</vt:lpstr>
      <vt:lpstr>等线 Light</vt:lpstr>
      <vt:lpstr>Arial</vt:lpstr>
      <vt:lpstr>Britannic Bold</vt:lpstr>
      <vt:lpstr>Office 主题​​</vt:lpstr>
      <vt:lpstr>AMAR ENGINE</vt:lpstr>
      <vt:lpstr>AMAR Engine — First Runtime of the Metaclass Standard</vt:lpstr>
      <vt:lpstr>PowerPoint 演示文稿</vt:lpstr>
      <vt:lpstr>PowerPoint 演示文稿</vt:lpstr>
      <vt:lpstr>ABOUT US</vt:lpstr>
      <vt:lpstr>补充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46</cp:revision>
  <dcterms:created xsi:type="dcterms:W3CDTF">2026-02-23T06:38:44Z</dcterms:created>
  <dcterms:modified xsi:type="dcterms:W3CDTF">2026-02-25T01:32:55Z</dcterms:modified>
</cp:coreProperties>
</file>