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2" r:id="rId2"/>
    <p:sldId id="263" r:id="rId3"/>
    <p:sldId id="264" r:id="rId4"/>
    <p:sldId id="265" r:id="rId5"/>
    <p:sldId id="266" r:id="rId6"/>
    <p:sldId id="267" r:id="rId7"/>
    <p:sldId id="259" r:id="rId8"/>
    <p:sldId id="261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33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DB348515-55EA-5D6E-0155-10887F9FD83C}"/>
              </a:ext>
            </a:extLst>
          </p:cNvPr>
          <p:cNvSpPr txBox="1">
            <a:spLocks/>
          </p:cNvSpPr>
          <p:nvPr/>
        </p:nvSpPr>
        <p:spPr>
          <a:xfrm>
            <a:off x="1581179" y="230373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9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</a:t>
            </a:r>
            <a:endParaRPr lang="zh-CN" altLang="en-US" sz="9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pic>
        <p:nvPicPr>
          <p:cNvPr id="5" name="图片 4" descr="徽标, 公司名称&#10;&#10;AI 生成的内容可能不正确。">
            <a:extLst>
              <a:ext uri="{FF2B5EF4-FFF2-40B4-BE49-F238E27FC236}">
                <a16:creationId xmlns:a16="http://schemas.microsoft.com/office/drawing/2014/main" id="{7F0BD887-5412-29E6-0BCB-21CB50BF07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33273"/>
            <a:ext cx="2937012" cy="2937012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1B51BD6A-08ED-090C-F150-37FF9A883F5D}"/>
              </a:ext>
            </a:extLst>
          </p:cNvPr>
          <p:cNvSpPr txBox="1"/>
          <p:nvPr/>
        </p:nvSpPr>
        <p:spPr>
          <a:xfrm>
            <a:off x="5192864" y="5207330"/>
            <a:ext cx="5620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BIZ UDGothic" panose="020B0400000000000000" pitchFamily="33" charset="-128"/>
                <a:ea typeface="BIZ UDGothic" panose="020B0400000000000000" pitchFamily="33" charset="-128"/>
                <a:cs typeface="Calibri Light" panose="020F0302020204030204" pitchFamily="34" charset="0"/>
              </a:rPr>
              <a:t>2026.2.25</a:t>
            </a:r>
            <a:endParaRPr lang="zh-CN" altLang="en-US" dirty="0">
              <a:latin typeface="BIZ UDGothic" panose="020B0400000000000000" pitchFamily="33" charset="-128"/>
              <a:ea typeface="BIZ UDGothic" panose="020B0400000000000000" pitchFamily="33" charset="-128"/>
              <a:cs typeface="Calibri Light" panose="020F030202020403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CF78002-CD59-F43B-0FB9-22553EC8959A}"/>
              </a:ext>
            </a:extLst>
          </p:cNvPr>
          <p:cNvSpPr txBox="1"/>
          <p:nvPr/>
        </p:nvSpPr>
        <p:spPr>
          <a:xfrm>
            <a:off x="6052930" y="3623261"/>
            <a:ext cx="77077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BIZ UDGothic" panose="020B0400000000000000" pitchFamily="33" charset="-128"/>
                <a:ea typeface="BIZ UDGothic" panose="020B0400000000000000" pitchFamily="33" charset="-128"/>
              </a:rPr>
              <a:t>————————A NEXT-GENERATION Physics Engine</a:t>
            </a:r>
            <a:endParaRPr lang="zh-CN" altLang="en-US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296429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C03308-B767-751D-32D3-18DC7F3AA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9113" y="176281"/>
            <a:ext cx="8479735" cy="410127"/>
          </a:xfrm>
        </p:spPr>
        <p:txBody>
          <a:bodyPr>
            <a:normAutofit fontScale="90000"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Engine Architecture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9D68CBD-1C20-3160-3864-0B74B58D52AC}"/>
              </a:ext>
            </a:extLst>
          </p:cNvPr>
          <p:cNvSpPr txBox="1"/>
          <p:nvPr/>
        </p:nvSpPr>
        <p:spPr>
          <a:xfrm>
            <a:off x="3543300" y="586408"/>
            <a:ext cx="7046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——</a:t>
            </a:r>
            <a:r>
              <a:rPr lang="en-US" altLang="zh-CN" dirty="0">
                <a:latin typeface="BIZ UDGothic" panose="020B0400000000000000" pitchFamily="33" charset="-128"/>
                <a:ea typeface="BIZ UDGothic" panose="020B0400000000000000" pitchFamily="33" charset="-128"/>
              </a:rPr>
              <a:t>A Standardized World Construction &amp; Execution Framework</a:t>
            </a:r>
            <a:endParaRPr lang="zh-CN" altLang="en-US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CFBD21D-3E1A-C039-3320-0AF82A866B8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19269" y="1625048"/>
            <a:ext cx="2057401" cy="438812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6868817-7A01-5278-E066-0C55CC0C7188}"/>
              </a:ext>
            </a:extLst>
          </p:cNvPr>
          <p:cNvSpPr txBox="1"/>
          <p:nvPr/>
        </p:nvSpPr>
        <p:spPr>
          <a:xfrm>
            <a:off x="263387" y="1739348"/>
            <a:ext cx="18635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Input Layer</a:t>
            </a:r>
          </a:p>
          <a:p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11625A7-49F8-768E-C006-F6CBF765E25B}"/>
              </a:ext>
            </a:extLst>
          </p:cNvPr>
          <p:cNvSpPr/>
          <p:nvPr/>
        </p:nvSpPr>
        <p:spPr>
          <a:xfrm>
            <a:off x="231084" y="2266122"/>
            <a:ext cx="1833770" cy="576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A8EAAE1-0132-F91F-71B5-16105BAC0F7F}"/>
              </a:ext>
            </a:extLst>
          </p:cNvPr>
          <p:cNvSpPr/>
          <p:nvPr/>
        </p:nvSpPr>
        <p:spPr>
          <a:xfrm>
            <a:off x="245992" y="3530876"/>
            <a:ext cx="1833770" cy="576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8EAA757-D352-E281-9919-3F4638ED422F}"/>
              </a:ext>
            </a:extLst>
          </p:cNvPr>
          <p:cNvSpPr/>
          <p:nvPr/>
        </p:nvSpPr>
        <p:spPr>
          <a:xfrm>
            <a:off x="231084" y="4944717"/>
            <a:ext cx="1833770" cy="5764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4D6D2BB-F169-3EB4-22AD-C8B4D7171766}"/>
              </a:ext>
            </a:extLst>
          </p:cNvPr>
          <p:cNvSpPr txBox="1"/>
          <p:nvPr/>
        </p:nvSpPr>
        <p:spPr>
          <a:xfrm>
            <a:off x="362778" y="2335191"/>
            <a:ext cx="16648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Scanner(3DGS)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F93E648-E4D1-FFC1-3FF9-20BC4B849B67}"/>
              </a:ext>
            </a:extLst>
          </p:cNvPr>
          <p:cNvSpPr txBox="1"/>
          <p:nvPr/>
        </p:nvSpPr>
        <p:spPr>
          <a:xfrm>
            <a:off x="571500" y="3665054"/>
            <a:ext cx="1555474" cy="382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E2FE8E-9FA9-875B-3BDC-7FE0AA70F1EE}"/>
              </a:ext>
            </a:extLst>
          </p:cNvPr>
          <p:cNvSpPr txBox="1"/>
          <p:nvPr/>
        </p:nvSpPr>
        <p:spPr>
          <a:xfrm>
            <a:off x="362778" y="5024230"/>
            <a:ext cx="1585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Tahoe(media)</a:t>
            </a:r>
            <a:endParaRPr lang="zh-CN" altLang="en-US" dirty="0"/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710B2683-E7C6-23CA-9BC0-7BE4595420EC}"/>
              </a:ext>
            </a:extLst>
          </p:cNvPr>
          <p:cNvSpPr/>
          <p:nvPr/>
        </p:nvSpPr>
        <p:spPr>
          <a:xfrm>
            <a:off x="2251213" y="3579329"/>
            <a:ext cx="546652" cy="4795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3D7F903-5ED4-BD27-88DF-AC72F2B765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31517" y="1620078"/>
            <a:ext cx="1958836" cy="438812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E95A6E7-CA08-D15B-1FDE-DDD7AEDE867A}"/>
              </a:ext>
            </a:extLst>
          </p:cNvPr>
          <p:cNvSpPr txBox="1"/>
          <p:nvPr/>
        </p:nvSpPr>
        <p:spPr>
          <a:xfrm>
            <a:off x="5401919" y="1712124"/>
            <a:ext cx="2261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AME ADMIN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209B00F-1735-6331-FAD8-BF30704D1A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401919" y="2226365"/>
            <a:ext cx="1803951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D89A56D-BC0D-63F1-A5CF-78178D0327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491370" y="4224382"/>
            <a:ext cx="1714499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332A36B-0A86-5864-22CD-A0E1115745AA}"/>
              </a:ext>
            </a:extLst>
          </p:cNvPr>
          <p:cNvSpPr txBox="1"/>
          <p:nvPr/>
        </p:nvSpPr>
        <p:spPr>
          <a:xfrm>
            <a:off x="5659507" y="2200329"/>
            <a:ext cx="17194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Metaclass Inference</a:t>
            </a:r>
            <a:endParaRPr lang="zh-CN" altLang="en-US" dirty="0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6DBE747-1F09-B21F-5D9F-4D2A58FD2FE3}"/>
              </a:ext>
            </a:extLst>
          </p:cNvPr>
          <p:cNvSpPr/>
          <p:nvPr/>
        </p:nvSpPr>
        <p:spPr>
          <a:xfrm>
            <a:off x="6096000" y="3294822"/>
            <a:ext cx="498613" cy="47956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31DBA57-4F4E-FDC0-A1AF-DC3EE160D35B}"/>
              </a:ext>
            </a:extLst>
          </p:cNvPr>
          <p:cNvSpPr txBox="1"/>
          <p:nvPr/>
        </p:nvSpPr>
        <p:spPr>
          <a:xfrm>
            <a:off x="6182139" y="3359426"/>
            <a:ext cx="3279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&amp;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DF6D293-7C1A-7DA6-3F70-9430192577A2}"/>
              </a:ext>
            </a:extLst>
          </p:cNvPr>
          <p:cNvSpPr txBox="1"/>
          <p:nvPr/>
        </p:nvSpPr>
        <p:spPr>
          <a:xfrm>
            <a:off x="5659507" y="4224381"/>
            <a:ext cx="15455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Structural Binding</a:t>
            </a:r>
            <a:endParaRPr lang="zh-CN" altLang="en-US" dirty="0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478B3E6-8F3F-C3EB-5C23-D32B8EB9736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868267" y="1662319"/>
            <a:ext cx="1743492" cy="438812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箭头: 右 23">
            <a:extLst>
              <a:ext uri="{FF2B5EF4-FFF2-40B4-BE49-F238E27FC236}">
                <a16:creationId xmlns:a16="http://schemas.microsoft.com/office/drawing/2014/main" id="{F7DAAAEC-62FA-5B6C-33EC-71E5BDB70297}"/>
              </a:ext>
            </a:extLst>
          </p:cNvPr>
          <p:cNvSpPr/>
          <p:nvPr/>
        </p:nvSpPr>
        <p:spPr>
          <a:xfrm>
            <a:off x="4687957" y="3530876"/>
            <a:ext cx="546652" cy="4795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FB35D9A-C515-3684-2CEE-1114D749EFB1}"/>
              </a:ext>
            </a:extLst>
          </p:cNvPr>
          <p:cNvSpPr/>
          <p:nvPr/>
        </p:nvSpPr>
        <p:spPr>
          <a:xfrm>
            <a:off x="2969729" y="3429000"/>
            <a:ext cx="1540568" cy="9233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79E4F60-4DA7-DEDF-64CA-2BDB3D7FAD68}"/>
              </a:ext>
            </a:extLst>
          </p:cNvPr>
          <p:cNvSpPr txBox="1"/>
          <p:nvPr/>
        </p:nvSpPr>
        <p:spPr>
          <a:xfrm>
            <a:off x="3076161" y="3447546"/>
            <a:ext cx="13359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Raw Structured Information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C7119B5-E580-F4AA-2CA7-D9B0825CE929}"/>
              </a:ext>
            </a:extLst>
          </p:cNvPr>
          <p:cNvSpPr txBox="1"/>
          <p:nvPr/>
        </p:nvSpPr>
        <p:spPr>
          <a:xfrm>
            <a:off x="2980081" y="1702239"/>
            <a:ext cx="18553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Information </a:t>
            </a:r>
          </a:p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       Pool</a:t>
            </a:r>
          </a:p>
          <a:p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2060558-293A-8283-F349-530D6FF3F66E}"/>
              </a:ext>
            </a:extLst>
          </p:cNvPr>
          <p:cNvSpPr/>
          <p:nvPr/>
        </p:nvSpPr>
        <p:spPr>
          <a:xfrm>
            <a:off x="8075543" y="1598957"/>
            <a:ext cx="1530627" cy="4430367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箭头: 右 30">
            <a:extLst>
              <a:ext uri="{FF2B5EF4-FFF2-40B4-BE49-F238E27FC236}">
                <a16:creationId xmlns:a16="http://schemas.microsoft.com/office/drawing/2014/main" id="{061223CE-B6B0-3215-7525-84F67A23A32C}"/>
              </a:ext>
            </a:extLst>
          </p:cNvPr>
          <p:cNvSpPr/>
          <p:nvPr/>
        </p:nvSpPr>
        <p:spPr>
          <a:xfrm>
            <a:off x="7409622" y="3549061"/>
            <a:ext cx="546652" cy="4795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箭头: 右 31">
            <a:extLst>
              <a:ext uri="{FF2B5EF4-FFF2-40B4-BE49-F238E27FC236}">
                <a16:creationId xmlns:a16="http://schemas.microsoft.com/office/drawing/2014/main" id="{8F4EED8A-6DD9-0B6B-F6A9-4C22E5444413}"/>
              </a:ext>
            </a:extLst>
          </p:cNvPr>
          <p:cNvSpPr/>
          <p:nvPr/>
        </p:nvSpPr>
        <p:spPr>
          <a:xfrm>
            <a:off x="9745316" y="3530875"/>
            <a:ext cx="546652" cy="47956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F85CF48-21DA-4AA2-30D6-64542C66B2C7}"/>
              </a:ext>
            </a:extLst>
          </p:cNvPr>
          <p:cNvSpPr txBox="1"/>
          <p:nvPr/>
        </p:nvSpPr>
        <p:spPr>
          <a:xfrm>
            <a:off x="8264387" y="1626200"/>
            <a:ext cx="146105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   AMAR   </a:t>
            </a:r>
          </a:p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  WORLD</a:t>
            </a:r>
          </a:p>
          <a:p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A7D1FCD-E524-C3A6-562F-4FD481641188}"/>
              </a:ext>
            </a:extLst>
          </p:cNvPr>
          <p:cNvSpPr/>
          <p:nvPr/>
        </p:nvSpPr>
        <p:spPr>
          <a:xfrm>
            <a:off x="8229600" y="2842592"/>
            <a:ext cx="1217543" cy="22909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7B55AFBD-237F-A0ED-14A6-0B96805EEC5E}"/>
              </a:ext>
            </a:extLst>
          </p:cNvPr>
          <p:cNvSpPr txBox="1"/>
          <p:nvPr/>
        </p:nvSpPr>
        <p:spPr>
          <a:xfrm>
            <a:off x="8328991" y="2927074"/>
            <a:ext cx="103863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Persistent Structured World</a:t>
            </a:r>
            <a:endParaRPr lang="zh-CN" altLang="en-US" dirty="0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E563A75-8B7F-FEE4-CE9B-9DB7019998DA}"/>
              </a:ext>
            </a:extLst>
          </p:cNvPr>
          <p:cNvSpPr/>
          <p:nvPr/>
        </p:nvSpPr>
        <p:spPr>
          <a:xfrm>
            <a:off x="10376452" y="1540565"/>
            <a:ext cx="1743492" cy="450988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9FB0D42-2FD7-12AC-FD7C-FF4A1B0C2EAB}"/>
              </a:ext>
            </a:extLst>
          </p:cNvPr>
          <p:cNvSpPr txBox="1"/>
          <p:nvPr/>
        </p:nvSpPr>
        <p:spPr>
          <a:xfrm>
            <a:off x="10500691" y="1662319"/>
            <a:ext cx="151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   GENIS </a:t>
            </a:r>
          </a:p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  Runtime</a:t>
            </a:r>
          </a:p>
          <a:p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240585E-29E3-8E14-6B5B-E9EC095BA094}"/>
              </a:ext>
            </a:extLst>
          </p:cNvPr>
          <p:cNvSpPr/>
          <p:nvPr/>
        </p:nvSpPr>
        <p:spPr>
          <a:xfrm>
            <a:off x="10649778" y="2864953"/>
            <a:ext cx="1217543" cy="22909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E2095458-81F7-B17B-DBA7-2ADDBD19AAE5}"/>
              </a:ext>
            </a:extLst>
          </p:cNvPr>
          <p:cNvSpPr txBox="1"/>
          <p:nvPr/>
        </p:nvSpPr>
        <p:spPr>
          <a:xfrm>
            <a:off x="10649779" y="2927073"/>
            <a:ext cx="12175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Physics Execution </a:t>
            </a:r>
          </a:p>
          <a:p>
            <a:r>
              <a:rPr lang="en-US" altLang="zh-CN" dirty="0"/>
              <a:t>via Genesis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0838034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A4647AC7-444F-ADAC-004C-016332137AB7}"/>
              </a:ext>
            </a:extLst>
          </p:cNvPr>
          <p:cNvSpPr/>
          <p:nvPr/>
        </p:nvSpPr>
        <p:spPr>
          <a:xfrm>
            <a:off x="675640" y="6116320"/>
            <a:ext cx="9372600" cy="57301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54FE2A7-4C80-6F0B-6812-3016799DB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73" y="-1"/>
            <a:ext cx="10786387" cy="629921"/>
          </a:xfrm>
        </p:spPr>
        <p:txBody>
          <a:bodyPr>
            <a:normAutofit/>
          </a:bodyPr>
          <a:lstStyle/>
          <a:p>
            <a:r>
              <a:rPr lang="en-US" altLang="zh-CN" sz="3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From Raw Information to Structured Reality</a:t>
            </a:r>
            <a:endParaRPr lang="zh-CN" altLang="en-US" sz="3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08C5E0-CC2E-E447-757D-F3C3A1011D3F}"/>
              </a:ext>
            </a:extLst>
          </p:cNvPr>
          <p:cNvSpPr/>
          <p:nvPr/>
        </p:nvSpPr>
        <p:spPr>
          <a:xfrm>
            <a:off x="106680" y="629920"/>
            <a:ext cx="5552440" cy="521208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EF1978A-72E9-FE73-B305-21D71D405A1D}"/>
              </a:ext>
            </a:extLst>
          </p:cNvPr>
          <p:cNvSpPr txBox="1"/>
          <p:nvPr/>
        </p:nvSpPr>
        <p:spPr>
          <a:xfrm>
            <a:off x="340360" y="706120"/>
            <a:ext cx="4800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Information Pool</a:t>
            </a:r>
          </a:p>
          <a:p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B02A87B-22BF-13A0-3458-358A4752977F}"/>
              </a:ext>
            </a:extLst>
          </p:cNvPr>
          <p:cNvSpPr/>
          <p:nvPr/>
        </p:nvSpPr>
        <p:spPr>
          <a:xfrm>
            <a:off x="243840" y="1256030"/>
            <a:ext cx="5196840" cy="939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A3D55BA-FFF0-1298-5C79-A0F6A8E575C5}"/>
              </a:ext>
            </a:extLst>
          </p:cNvPr>
          <p:cNvSpPr/>
          <p:nvPr/>
        </p:nvSpPr>
        <p:spPr>
          <a:xfrm>
            <a:off x="226060" y="2359660"/>
            <a:ext cx="5196840" cy="939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D94B946-4D4A-CC01-2B01-45A7152CC1ED}"/>
              </a:ext>
            </a:extLst>
          </p:cNvPr>
          <p:cNvSpPr/>
          <p:nvPr/>
        </p:nvSpPr>
        <p:spPr>
          <a:xfrm>
            <a:off x="226060" y="3520440"/>
            <a:ext cx="5196840" cy="939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45C3CA6-A31A-B85D-B59E-5336BA1CA6A8}"/>
              </a:ext>
            </a:extLst>
          </p:cNvPr>
          <p:cNvSpPr/>
          <p:nvPr/>
        </p:nvSpPr>
        <p:spPr>
          <a:xfrm>
            <a:off x="243840" y="4681220"/>
            <a:ext cx="5196840" cy="939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E904FB44-D7EA-1E17-ACF7-89C4D2753A54}"/>
              </a:ext>
            </a:extLst>
          </p:cNvPr>
          <p:cNvSpPr txBox="1"/>
          <p:nvPr/>
        </p:nvSpPr>
        <p:spPr>
          <a:xfrm>
            <a:off x="429260" y="1352451"/>
            <a:ext cx="51003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800" dirty="0"/>
              <a:t>Object fragments</a:t>
            </a:r>
          </a:p>
          <a:p>
            <a:endParaRPr lang="zh-CN" altLang="en-US" sz="4800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6DFF911-EF03-AB65-4939-F5F5F806AF14}"/>
              </a:ext>
            </a:extLst>
          </p:cNvPr>
          <p:cNvSpPr txBox="1"/>
          <p:nvPr/>
        </p:nvSpPr>
        <p:spPr>
          <a:xfrm>
            <a:off x="867687" y="2318008"/>
            <a:ext cx="47117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5400" dirty="0"/>
              <a:t>Spatial hints</a:t>
            </a:r>
          </a:p>
          <a:p>
            <a:endParaRPr lang="zh-CN" altLang="en-US" sz="5400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64F3762-5F6A-3116-0642-F2EBFE3AA62A}"/>
              </a:ext>
            </a:extLst>
          </p:cNvPr>
          <p:cNvSpPr txBox="1"/>
          <p:nvPr/>
        </p:nvSpPr>
        <p:spPr>
          <a:xfrm>
            <a:off x="675640" y="3652520"/>
            <a:ext cx="429768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dirty="0"/>
              <a:t>Semantic signals</a:t>
            </a:r>
          </a:p>
          <a:p>
            <a:endParaRPr lang="zh-CN" altLang="en-US" sz="4400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2E93FF0-E882-3B4D-7A2D-65529747317B}"/>
              </a:ext>
            </a:extLst>
          </p:cNvPr>
          <p:cNvSpPr txBox="1"/>
          <p:nvPr/>
        </p:nvSpPr>
        <p:spPr>
          <a:xfrm>
            <a:off x="675640" y="4749164"/>
            <a:ext cx="457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dirty="0"/>
              <a:t>Raw measurements</a:t>
            </a:r>
          </a:p>
          <a:p>
            <a:endParaRPr lang="zh-CN" altLang="en-US" sz="40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459EC06-9DF1-6D87-CED4-96F244A5D22C}"/>
              </a:ext>
            </a:extLst>
          </p:cNvPr>
          <p:cNvSpPr txBox="1"/>
          <p:nvPr/>
        </p:nvSpPr>
        <p:spPr>
          <a:xfrm>
            <a:off x="847644" y="6188104"/>
            <a:ext cx="109855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BIZ UDGothic" panose="020B0400000000000000" pitchFamily="33" charset="-128"/>
                <a:ea typeface="BIZ UDGothic" panose="020B0400000000000000" pitchFamily="33" charset="-128"/>
              </a:rPr>
              <a:t>Metaclass inference transforms information into a stable structural ontology.</a:t>
            </a:r>
          </a:p>
          <a:p>
            <a:endParaRPr lang="zh-CN" altLang="en-US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15AE8CE-B6D0-D1C7-8B2B-4AA07DCD099F}"/>
              </a:ext>
            </a:extLst>
          </p:cNvPr>
          <p:cNvSpPr/>
          <p:nvPr/>
        </p:nvSpPr>
        <p:spPr>
          <a:xfrm>
            <a:off x="5801360" y="629920"/>
            <a:ext cx="6321067" cy="466344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36EF783-7AB9-FD15-4BE6-5A93C4764AB1}"/>
              </a:ext>
            </a:extLst>
          </p:cNvPr>
          <p:cNvSpPr txBox="1"/>
          <p:nvPr/>
        </p:nvSpPr>
        <p:spPr>
          <a:xfrm>
            <a:off x="8315960" y="659953"/>
            <a:ext cx="544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AME ADMIN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1BA4B44-9181-0DC1-B671-420CB7247771}"/>
              </a:ext>
            </a:extLst>
          </p:cNvPr>
          <p:cNvSpPr/>
          <p:nvPr/>
        </p:nvSpPr>
        <p:spPr>
          <a:xfrm>
            <a:off x="5989320" y="1183640"/>
            <a:ext cx="5958840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5B583FD-FA89-5D8C-4B35-C0DD9DBB2D98}"/>
              </a:ext>
            </a:extLst>
          </p:cNvPr>
          <p:cNvSpPr/>
          <p:nvPr/>
        </p:nvSpPr>
        <p:spPr>
          <a:xfrm>
            <a:off x="6017814" y="2250187"/>
            <a:ext cx="5958840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148F362-7350-8EE1-12F7-519591F5AF77}"/>
              </a:ext>
            </a:extLst>
          </p:cNvPr>
          <p:cNvSpPr/>
          <p:nvPr/>
        </p:nvSpPr>
        <p:spPr>
          <a:xfrm>
            <a:off x="6017814" y="3301122"/>
            <a:ext cx="5958840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7D65490-7FA8-4E44-3382-7D2EFCCAA08A}"/>
              </a:ext>
            </a:extLst>
          </p:cNvPr>
          <p:cNvSpPr/>
          <p:nvPr/>
        </p:nvSpPr>
        <p:spPr>
          <a:xfrm>
            <a:off x="6017814" y="4293557"/>
            <a:ext cx="5958840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3DD1D02-510D-8EA7-6411-51C76D67DAAF}"/>
              </a:ext>
            </a:extLst>
          </p:cNvPr>
          <p:cNvSpPr txBox="1"/>
          <p:nvPr/>
        </p:nvSpPr>
        <p:spPr>
          <a:xfrm>
            <a:off x="7523480" y="1356692"/>
            <a:ext cx="5765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Internal model inference</a:t>
            </a:r>
          </a:p>
          <a:p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7A3F725-55BB-C064-3639-5891D97C9EF0}"/>
              </a:ext>
            </a:extLst>
          </p:cNvPr>
          <p:cNvSpPr txBox="1"/>
          <p:nvPr/>
        </p:nvSpPr>
        <p:spPr>
          <a:xfrm>
            <a:off x="7305040" y="2383691"/>
            <a:ext cx="56863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Automatic </a:t>
            </a:r>
            <a:r>
              <a:rPr lang="en-US" altLang="zh-CN" dirty="0" err="1"/>
              <a:t>metaclass</a:t>
            </a:r>
            <a:r>
              <a:rPr lang="en-US" altLang="zh-CN" dirty="0"/>
              <a:t> detection</a:t>
            </a:r>
          </a:p>
          <a:p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26C15EB-9DC3-C65C-2A73-BB97695AE283}"/>
              </a:ext>
            </a:extLst>
          </p:cNvPr>
          <p:cNvSpPr txBox="1"/>
          <p:nvPr/>
        </p:nvSpPr>
        <p:spPr>
          <a:xfrm>
            <a:off x="7624226" y="3433095"/>
            <a:ext cx="4932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Parameter normalization</a:t>
            </a:r>
          </a:p>
          <a:p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1AD1B41-955C-BEF2-F51A-20C3404399B2}"/>
              </a:ext>
            </a:extLst>
          </p:cNvPr>
          <p:cNvSpPr txBox="1"/>
          <p:nvPr/>
        </p:nvSpPr>
        <p:spPr>
          <a:xfrm>
            <a:off x="7852133" y="4425998"/>
            <a:ext cx="4831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Structural stabilization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5331425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3A506EE1-57DF-684D-DB5A-53E98AEAEF63}"/>
              </a:ext>
            </a:extLst>
          </p:cNvPr>
          <p:cNvSpPr/>
          <p:nvPr/>
        </p:nvSpPr>
        <p:spPr>
          <a:xfrm>
            <a:off x="5146040" y="553720"/>
            <a:ext cx="5918200" cy="388112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1604847-433B-513E-8D4E-0F646C108B80}"/>
              </a:ext>
            </a:extLst>
          </p:cNvPr>
          <p:cNvSpPr/>
          <p:nvPr/>
        </p:nvSpPr>
        <p:spPr>
          <a:xfrm>
            <a:off x="5430520" y="3181351"/>
            <a:ext cx="5245762" cy="482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5732096-3F1E-930F-8772-0AF7AE9B9689}"/>
              </a:ext>
            </a:extLst>
          </p:cNvPr>
          <p:cNvSpPr/>
          <p:nvPr/>
        </p:nvSpPr>
        <p:spPr>
          <a:xfrm>
            <a:off x="5430520" y="2691959"/>
            <a:ext cx="5245762" cy="482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C74A7F8-85CD-E67A-CFB8-D49BD3F6ACC5}"/>
              </a:ext>
            </a:extLst>
          </p:cNvPr>
          <p:cNvSpPr/>
          <p:nvPr/>
        </p:nvSpPr>
        <p:spPr>
          <a:xfrm>
            <a:off x="5430520" y="2202567"/>
            <a:ext cx="5245762" cy="482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68656B3-A461-66BC-B6FE-9CC731DC2062}"/>
              </a:ext>
            </a:extLst>
          </p:cNvPr>
          <p:cNvSpPr/>
          <p:nvPr/>
        </p:nvSpPr>
        <p:spPr>
          <a:xfrm>
            <a:off x="5430520" y="1700942"/>
            <a:ext cx="5245762" cy="482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82D0006-7370-6192-AECC-2A9E1F17F9D9}"/>
              </a:ext>
            </a:extLst>
          </p:cNvPr>
          <p:cNvSpPr/>
          <p:nvPr/>
        </p:nvSpPr>
        <p:spPr>
          <a:xfrm>
            <a:off x="5430520" y="1205186"/>
            <a:ext cx="5245762" cy="482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66D32EB-1154-4280-CC47-92A88765FB1E}"/>
              </a:ext>
            </a:extLst>
          </p:cNvPr>
          <p:cNvSpPr/>
          <p:nvPr/>
        </p:nvSpPr>
        <p:spPr>
          <a:xfrm>
            <a:off x="5430520" y="721360"/>
            <a:ext cx="5245762" cy="482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F30E625-1D06-0616-BD6E-0018355AC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743" y="151435"/>
            <a:ext cx="11203057" cy="315912"/>
          </a:xfrm>
        </p:spPr>
        <p:txBody>
          <a:bodyPr>
            <a:normAutofit fontScale="90000"/>
          </a:bodyPr>
          <a:lstStyle/>
          <a:p>
            <a:r>
              <a:rPr lang="en-US" altLang="zh-CN" sz="3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AMAR WORLD — The Persistent World Standard</a:t>
            </a:r>
            <a:endParaRPr lang="zh-CN" altLang="en-US" sz="3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1C7AF4-1186-C25C-2CD0-68F43AF2B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6705" y="734516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Stores </a:t>
            </a:r>
            <a:r>
              <a:rPr lang="en-US" altLang="zh-CN" dirty="0" err="1"/>
              <a:t>metaclass</a:t>
            </a:r>
            <a:r>
              <a:rPr lang="en-US" altLang="zh-CN" dirty="0"/>
              <a:t> decisions</a:t>
            </a:r>
          </a:p>
          <a:p>
            <a:pPr marL="0" indent="0">
              <a:buNone/>
            </a:pPr>
            <a:r>
              <a:rPr lang="en-US" altLang="zh-CN" dirty="0"/>
              <a:t>Stores normalized parameters</a:t>
            </a:r>
          </a:p>
          <a:p>
            <a:pPr marL="0" indent="0">
              <a:buNone/>
            </a:pPr>
            <a:r>
              <a:rPr lang="en-US" altLang="zh-CN" dirty="0"/>
              <a:t>Engine-agnostic</a:t>
            </a:r>
          </a:p>
          <a:p>
            <a:pPr marL="0" indent="0">
              <a:buNone/>
            </a:pPr>
            <a:r>
              <a:rPr lang="en-US" altLang="zh-CN" dirty="0" err="1"/>
              <a:t>Versionable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Portable</a:t>
            </a:r>
          </a:p>
          <a:p>
            <a:pPr marL="0" indent="0">
              <a:buNone/>
            </a:pPr>
            <a:r>
              <a:rPr lang="en-US" altLang="zh-CN" dirty="0"/>
              <a:t>Runnable</a:t>
            </a:r>
          </a:p>
          <a:p>
            <a:pPr marL="0" indent="0">
              <a:buNone/>
            </a:pP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3608FD-CAE5-7238-78B3-354AFB4658C1}"/>
              </a:ext>
            </a:extLst>
          </p:cNvPr>
          <p:cNvSpPr/>
          <p:nvPr/>
        </p:nvSpPr>
        <p:spPr>
          <a:xfrm>
            <a:off x="541683" y="760343"/>
            <a:ext cx="3920987" cy="65101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CB8E83B-C8AD-739F-4DD8-0A5DA8D2C554}"/>
              </a:ext>
            </a:extLst>
          </p:cNvPr>
          <p:cNvSpPr txBox="1"/>
          <p:nvPr/>
        </p:nvSpPr>
        <p:spPr>
          <a:xfrm>
            <a:off x="1515718" y="903978"/>
            <a:ext cx="3478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World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0895B3-3616-4B80-4E15-625186298B1E}"/>
              </a:ext>
            </a:extLst>
          </p:cNvPr>
          <p:cNvSpPr/>
          <p:nvPr/>
        </p:nvSpPr>
        <p:spPr>
          <a:xfrm>
            <a:off x="1046480" y="1463040"/>
            <a:ext cx="3416190" cy="5943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16C4839-519F-B9BF-6493-29A5D4EE012A}"/>
              </a:ext>
            </a:extLst>
          </p:cNvPr>
          <p:cNvSpPr/>
          <p:nvPr/>
        </p:nvSpPr>
        <p:spPr>
          <a:xfrm>
            <a:off x="1515718" y="2118360"/>
            <a:ext cx="2946952" cy="65101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2F6BE61-1EA6-F531-2A15-35031CC017FA}"/>
              </a:ext>
            </a:extLst>
          </p:cNvPr>
          <p:cNvSpPr/>
          <p:nvPr/>
        </p:nvSpPr>
        <p:spPr>
          <a:xfrm>
            <a:off x="1515718" y="2870200"/>
            <a:ext cx="2946952" cy="65101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1F82A64-0657-54E6-4675-C77795FBC932}"/>
              </a:ext>
            </a:extLst>
          </p:cNvPr>
          <p:cNvSpPr/>
          <p:nvPr/>
        </p:nvSpPr>
        <p:spPr>
          <a:xfrm>
            <a:off x="1515718" y="3649984"/>
            <a:ext cx="2946952" cy="651014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2663C1F-7F18-F1A2-4408-F56D2E85C32E}"/>
              </a:ext>
            </a:extLst>
          </p:cNvPr>
          <p:cNvSpPr/>
          <p:nvPr/>
        </p:nvSpPr>
        <p:spPr>
          <a:xfrm>
            <a:off x="1515718" y="4434840"/>
            <a:ext cx="2946952" cy="65101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0D09C53-0EE8-C279-AFD5-AC18832E11EF}"/>
              </a:ext>
            </a:extLst>
          </p:cNvPr>
          <p:cNvSpPr txBox="1"/>
          <p:nvPr/>
        </p:nvSpPr>
        <p:spPr>
          <a:xfrm>
            <a:off x="1795670" y="4575681"/>
            <a:ext cx="266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BIZ UDGothic" panose="020B0400000000000000" pitchFamily="33" charset="-128"/>
                <a:ea typeface="BIZ UDGothic" panose="020B0400000000000000" pitchFamily="33" charset="-128"/>
              </a:rPr>
              <a:t>world.meta.json</a:t>
            </a:r>
            <a:endParaRPr lang="zh-CN" altLang="en-US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800C27B-1AA0-3907-2823-17564ED643AD}"/>
              </a:ext>
            </a:extLst>
          </p:cNvPr>
          <p:cNvSpPr txBox="1"/>
          <p:nvPr/>
        </p:nvSpPr>
        <p:spPr>
          <a:xfrm>
            <a:off x="1701800" y="3759200"/>
            <a:ext cx="2631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 /dependencies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98C86462-3ED5-0E39-448D-0E16FFA91AA4}"/>
              </a:ext>
            </a:extLst>
          </p:cNvPr>
          <p:cNvSpPr txBox="1"/>
          <p:nvPr/>
        </p:nvSpPr>
        <p:spPr>
          <a:xfrm>
            <a:off x="1864250" y="3025566"/>
            <a:ext cx="2529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/environment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99B0B05-F9B3-6739-2EB4-0CF21CC22901}"/>
              </a:ext>
            </a:extLst>
          </p:cNvPr>
          <p:cNvSpPr txBox="1"/>
          <p:nvPr/>
        </p:nvSpPr>
        <p:spPr>
          <a:xfrm>
            <a:off x="1864250" y="2250440"/>
            <a:ext cx="22251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/objects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4F868E2-72D4-B07E-4FD3-AC262A257F27}"/>
              </a:ext>
            </a:extLst>
          </p:cNvPr>
          <p:cNvSpPr txBox="1"/>
          <p:nvPr/>
        </p:nvSpPr>
        <p:spPr>
          <a:xfrm>
            <a:off x="1900693" y="1564534"/>
            <a:ext cx="3093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/</a:t>
            </a:r>
            <a:r>
              <a:rPr lang="en-US" altLang="zh-CN" dirty="0" err="1"/>
              <a:t>amar_world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B43E645-E635-722B-F7C0-CF5B09DDF387}"/>
              </a:ext>
            </a:extLst>
          </p:cNvPr>
          <p:cNvSpPr/>
          <p:nvPr/>
        </p:nvSpPr>
        <p:spPr>
          <a:xfrm>
            <a:off x="345440" y="5420360"/>
            <a:ext cx="8331200" cy="11582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99AC1E-61A2-A395-ECD0-E710ADEDED69}"/>
              </a:ext>
            </a:extLst>
          </p:cNvPr>
          <p:cNvSpPr txBox="1"/>
          <p:nvPr/>
        </p:nvSpPr>
        <p:spPr>
          <a:xfrm>
            <a:off x="899160" y="5757750"/>
            <a:ext cx="77774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BIZ UDGothic" panose="020B0400000000000000" pitchFamily="33" charset="-128"/>
                <a:ea typeface="BIZ UDGothic" panose="020B0400000000000000" pitchFamily="33" charset="-128"/>
              </a:rPr>
              <a:t>AMAR WORLD is not runtime — it is executable world specification.</a:t>
            </a:r>
          </a:p>
          <a:p>
            <a:endParaRPr lang="zh-CN" altLang="en-US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2A15664-186B-7C42-D275-3AA525A29FCC}"/>
              </a:ext>
            </a:extLst>
          </p:cNvPr>
          <p:cNvSpPr/>
          <p:nvPr/>
        </p:nvSpPr>
        <p:spPr>
          <a:xfrm>
            <a:off x="5430520" y="3799840"/>
            <a:ext cx="2001520" cy="5389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75274B9-F56D-5496-3D94-30156B11D748}"/>
              </a:ext>
            </a:extLst>
          </p:cNvPr>
          <p:cNvSpPr txBox="1"/>
          <p:nvPr/>
        </p:nvSpPr>
        <p:spPr>
          <a:xfrm>
            <a:off x="5582920" y="3865880"/>
            <a:ext cx="16764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11448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BFAC0075-53B2-34D0-C051-F803188776D2}"/>
              </a:ext>
            </a:extLst>
          </p:cNvPr>
          <p:cNvSpPr/>
          <p:nvPr/>
        </p:nvSpPr>
        <p:spPr>
          <a:xfrm>
            <a:off x="5085080" y="1227574"/>
            <a:ext cx="6441440" cy="2333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B23662A-93D4-ECAB-15C7-818FC3BB20C3}"/>
              </a:ext>
            </a:extLst>
          </p:cNvPr>
          <p:cNvSpPr/>
          <p:nvPr/>
        </p:nvSpPr>
        <p:spPr>
          <a:xfrm>
            <a:off x="5196840" y="2937195"/>
            <a:ext cx="6141720" cy="4853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0B3D7A4-C47E-EE72-AB86-E0096F28FA03}"/>
              </a:ext>
            </a:extLst>
          </p:cNvPr>
          <p:cNvSpPr/>
          <p:nvPr/>
        </p:nvSpPr>
        <p:spPr>
          <a:xfrm>
            <a:off x="5196840" y="2378889"/>
            <a:ext cx="6141720" cy="4853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EF5CE5-EC56-CC7D-6E30-A6AA57633ADB}"/>
              </a:ext>
            </a:extLst>
          </p:cNvPr>
          <p:cNvSpPr/>
          <p:nvPr/>
        </p:nvSpPr>
        <p:spPr>
          <a:xfrm>
            <a:off x="5196840" y="1836174"/>
            <a:ext cx="6141720" cy="48538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74AB431-A4AE-75B7-11F4-56AA65D05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613" y="166343"/>
            <a:ext cx="4663109" cy="444914"/>
          </a:xfrm>
        </p:spPr>
        <p:txBody>
          <a:bodyPr>
            <a:normAutofit fontScale="90000"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Execution Layer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3465941-F835-4411-E86D-059FF7D2F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73980" y="1860744"/>
            <a:ext cx="9257527" cy="15682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GENIS bridges structure to physics</a:t>
            </a:r>
          </a:p>
          <a:p>
            <a:pPr marL="0" indent="0">
              <a:buNone/>
            </a:pPr>
            <a:r>
              <a:rPr lang="en-US" altLang="zh-CN" dirty="0"/>
              <a:t>Genesis performs numerical simulation</a:t>
            </a:r>
          </a:p>
          <a:p>
            <a:pPr marL="0" indent="0">
              <a:buNone/>
            </a:pPr>
            <a:r>
              <a:rPr lang="en-US" altLang="zh-CN" dirty="0"/>
              <a:t>Runtime remains replaceable</a:t>
            </a:r>
          </a:p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10F5A06-531A-FF08-48D4-2C2792F7E810}"/>
              </a:ext>
            </a:extLst>
          </p:cNvPr>
          <p:cNvSpPr/>
          <p:nvPr/>
        </p:nvSpPr>
        <p:spPr>
          <a:xfrm>
            <a:off x="238760" y="980440"/>
            <a:ext cx="4399280" cy="8636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2F93079-C0FA-04EE-7262-F176ACD93E01}"/>
              </a:ext>
            </a:extLst>
          </p:cNvPr>
          <p:cNvSpPr/>
          <p:nvPr/>
        </p:nvSpPr>
        <p:spPr>
          <a:xfrm>
            <a:off x="249527" y="2321560"/>
            <a:ext cx="4399280" cy="8636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箭头: 下 5">
            <a:extLst>
              <a:ext uri="{FF2B5EF4-FFF2-40B4-BE49-F238E27FC236}">
                <a16:creationId xmlns:a16="http://schemas.microsoft.com/office/drawing/2014/main" id="{454EBABD-60CB-5AFB-9467-C7469EE31797}"/>
              </a:ext>
            </a:extLst>
          </p:cNvPr>
          <p:cNvSpPr/>
          <p:nvPr/>
        </p:nvSpPr>
        <p:spPr>
          <a:xfrm>
            <a:off x="1717040" y="1945640"/>
            <a:ext cx="924560" cy="33528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箭头: 下 6">
            <a:extLst>
              <a:ext uri="{FF2B5EF4-FFF2-40B4-BE49-F238E27FC236}">
                <a16:creationId xmlns:a16="http://schemas.microsoft.com/office/drawing/2014/main" id="{17086421-39FE-326E-67DA-A185F084D53B}"/>
              </a:ext>
            </a:extLst>
          </p:cNvPr>
          <p:cNvSpPr/>
          <p:nvPr/>
        </p:nvSpPr>
        <p:spPr>
          <a:xfrm>
            <a:off x="1717040" y="3372759"/>
            <a:ext cx="924560" cy="33528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箭头: 下 8">
            <a:extLst>
              <a:ext uri="{FF2B5EF4-FFF2-40B4-BE49-F238E27FC236}">
                <a16:creationId xmlns:a16="http://schemas.microsoft.com/office/drawing/2014/main" id="{2F927CFF-97F2-CF6C-5C46-6205E910C63F}"/>
              </a:ext>
            </a:extLst>
          </p:cNvPr>
          <p:cNvSpPr/>
          <p:nvPr/>
        </p:nvSpPr>
        <p:spPr>
          <a:xfrm>
            <a:off x="1717040" y="4727823"/>
            <a:ext cx="924560" cy="33528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B512B36-210D-6FD3-4868-B5652141B132}"/>
              </a:ext>
            </a:extLst>
          </p:cNvPr>
          <p:cNvSpPr/>
          <p:nvPr/>
        </p:nvSpPr>
        <p:spPr>
          <a:xfrm>
            <a:off x="249527" y="3777333"/>
            <a:ext cx="4399280" cy="8636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49AB8DD-83D6-5A4B-242E-6FA7CB810F4A}"/>
              </a:ext>
            </a:extLst>
          </p:cNvPr>
          <p:cNvSpPr/>
          <p:nvPr/>
        </p:nvSpPr>
        <p:spPr>
          <a:xfrm>
            <a:off x="249527" y="5104642"/>
            <a:ext cx="4399280" cy="86360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8D802CB-9692-1715-A7FD-A1E411E6EF1D}"/>
              </a:ext>
            </a:extLst>
          </p:cNvPr>
          <p:cNvSpPr txBox="1"/>
          <p:nvPr/>
        </p:nvSpPr>
        <p:spPr>
          <a:xfrm>
            <a:off x="1295400" y="1227574"/>
            <a:ext cx="32308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WORLD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947096B-19FB-44D3-03DE-E64B70667378}"/>
              </a:ext>
            </a:extLst>
          </p:cNvPr>
          <p:cNvSpPr txBox="1"/>
          <p:nvPr/>
        </p:nvSpPr>
        <p:spPr>
          <a:xfrm>
            <a:off x="1295400" y="2611120"/>
            <a:ext cx="2773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GENIS Adapter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E6F99EDA-CB29-6EFC-A502-FF7738B496CE}"/>
              </a:ext>
            </a:extLst>
          </p:cNvPr>
          <p:cNvSpPr txBox="1"/>
          <p:nvPr/>
        </p:nvSpPr>
        <p:spPr>
          <a:xfrm>
            <a:off x="1153160" y="4049290"/>
            <a:ext cx="2473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 Physics Core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BE8913EF-A1AC-FD8E-9DDA-942D1895205D}"/>
              </a:ext>
            </a:extLst>
          </p:cNvPr>
          <p:cNvSpPr txBox="1"/>
          <p:nvPr/>
        </p:nvSpPr>
        <p:spPr>
          <a:xfrm>
            <a:off x="1153160" y="5344160"/>
            <a:ext cx="2585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Interactive Simulation</a:t>
            </a:r>
            <a:endParaRPr lang="zh-CN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F25D7C1-B48B-2E0F-1801-B56068FBF671}"/>
              </a:ext>
            </a:extLst>
          </p:cNvPr>
          <p:cNvSpPr/>
          <p:nvPr/>
        </p:nvSpPr>
        <p:spPr>
          <a:xfrm>
            <a:off x="1681480" y="6111240"/>
            <a:ext cx="8305800" cy="6197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7C904B4-759F-9AE7-0810-72E98352545A}"/>
              </a:ext>
            </a:extLst>
          </p:cNvPr>
          <p:cNvSpPr txBox="1"/>
          <p:nvPr/>
        </p:nvSpPr>
        <p:spPr>
          <a:xfrm>
            <a:off x="2438400" y="6257802"/>
            <a:ext cx="7879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BIZ UDGothic" panose="020B0400000000000000" pitchFamily="33" charset="-128"/>
                <a:ea typeface="BIZ UDGothic" panose="020B0400000000000000" pitchFamily="33" charset="-128"/>
              </a:rPr>
              <a:t>Physics is modular. Structure is permanent.</a:t>
            </a:r>
          </a:p>
          <a:p>
            <a:endParaRPr lang="zh-CN" altLang="en-US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0F92E4F-CC1E-55C9-302F-59E497C34E19}"/>
              </a:ext>
            </a:extLst>
          </p:cNvPr>
          <p:cNvSpPr/>
          <p:nvPr/>
        </p:nvSpPr>
        <p:spPr>
          <a:xfrm>
            <a:off x="5237480" y="1310640"/>
            <a:ext cx="1610360" cy="47718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71B28E8-23E1-4A03-C305-D206A8A2EDF1}"/>
              </a:ext>
            </a:extLst>
          </p:cNvPr>
          <p:cNvSpPr txBox="1"/>
          <p:nvPr/>
        </p:nvSpPr>
        <p:spPr>
          <a:xfrm>
            <a:off x="5313680" y="1386840"/>
            <a:ext cx="1468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Notes: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37263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427A42-FC50-E64E-0DF4-849A27FDE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47" y="206100"/>
            <a:ext cx="3599622" cy="171588"/>
          </a:xfrm>
        </p:spPr>
        <p:txBody>
          <a:bodyPr>
            <a:normAutofit fontScale="90000"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Why AMAR?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3768A3E-768F-7BFC-7194-265F152FABD4}"/>
              </a:ext>
            </a:extLst>
          </p:cNvPr>
          <p:cNvSpPr/>
          <p:nvPr/>
        </p:nvSpPr>
        <p:spPr>
          <a:xfrm>
            <a:off x="949185" y="5424417"/>
            <a:ext cx="10605053" cy="1227483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E41ACB-A847-1235-5AF5-02982395FD43}"/>
              </a:ext>
            </a:extLst>
          </p:cNvPr>
          <p:cNvSpPr txBox="1"/>
          <p:nvPr/>
        </p:nvSpPr>
        <p:spPr>
          <a:xfrm>
            <a:off x="1048578" y="5491369"/>
            <a:ext cx="103665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AMAR is not just an engine. It is a protocol for constructing computable universes.</a:t>
            </a:r>
          </a:p>
          <a:p>
            <a:endParaRPr lang="zh-CN" altLang="en-US" sz="3600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4C36015-5C17-EEFA-FA69-158A7574CC91}"/>
              </a:ext>
            </a:extLst>
          </p:cNvPr>
          <p:cNvSpPr/>
          <p:nvPr/>
        </p:nvSpPr>
        <p:spPr>
          <a:xfrm>
            <a:off x="254000" y="772160"/>
            <a:ext cx="6507480" cy="1320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2BEFA7F-2F9E-7C2D-737F-BE9854780617}"/>
              </a:ext>
            </a:extLst>
          </p:cNvPr>
          <p:cNvSpPr/>
          <p:nvPr/>
        </p:nvSpPr>
        <p:spPr>
          <a:xfrm>
            <a:off x="254000" y="2245360"/>
            <a:ext cx="6507480" cy="1320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1ACDDB2-E96A-9FEB-26CA-4B2BE0F71F10}"/>
              </a:ext>
            </a:extLst>
          </p:cNvPr>
          <p:cNvSpPr/>
          <p:nvPr/>
        </p:nvSpPr>
        <p:spPr>
          <a:xfrm>
            <a:off x="254000" y="3709145"/>
            <a:ext cx="6507480" cy="1320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10A22A6-186F-78E7-0A64-E8B9C867A9AA}"/>
              </a:ext>
            </a:extLst>
          </p:cNvPr>
          <p:cNvSpPr txBox="1"/>
          <p:nvPr/>
        </p:nvSpPr>
        <p:spPr>
          <a:xfrm>
            <a:off x="733949" y="970895"/>
            <a:ext cx="58572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1️⃣ World Standardization</a:t>
            </a:r>
          </a:p>
          <a:p>
            <a:r>
              <a:rPr lang="en-US" altLang="zh-CN" sz="2400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Defines persistent structural reality</a:t>
            </a:r>
          </a:p>
          <a:p>
            <a:endParaRPr lang="zh-CN" altLang="en-US" sz="2400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9B0DDE6-1395-3B01-30F8-EDE340DC2D09}"/>
              </a:ext>
            </a:extLst>
          </p:cNvPr>
          <p:cNvSpPr txBox="1"/>
          <p:nvPr/>
        </p:nvSpPr>
        <p:spPr>
          <a:xfrm>
            <a:off x="695960" y="2367280"/>
            <a:ext cx="57607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2️⃣ Automatic Ontology Inference</a:t>
            </a:r>
          </a:p>
          <a:p>
            <a:r>
              <a:rPr lang="en-US" altLang="zh-CN" sz="2400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Reduces manual modeling complexity</a:t>
            </a:r>
          </a:p>
          <a:p>
            <a:endParaRPr lang="zh-CN" altLang="en-US" sz="2400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6CCE130-2ECA-5909-BBBD-03402B0CECE6}"/>
              </a:ext>
            </a:extLst>
          </p:cNvPr>
          <p:cNvSpPr txBox="1"/>
          <p:nvPr/>
        </p:nvSpPr>
        <p:spPr>
          <a:xfrm>
            <a:off x="733949" y="3886496"/>
            <a:ext cx="62002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3️⃣ Modular Execution</a:t>
            </a:r>
          </a:p>
          <a:p>
            <a:r>
              <a:rPr lang="en-US" altLang="zh-CN" sz="2400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Supports multiple runtime backends</a:t>
            </a:r>
          </a:p>
          <a:p>
            <a:endParaRPr lang="zh-CN" altLang="en-US" sz="2400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pic>
        <p:nvPicPr>
          <p:cNvPr id="12" name="图片 11" descr="徽标, 公司名称&#10;&#10;AI 生成的内容可能不正确。">
            <a:extLst>
              <a:ext uri="{FF2B5EF4-FFF2-40B4-BE49-F238E27FC236}">
                <a16:creationId xmlns:a16="http://schemas.microsoft.com/office/drawing/2014/main" id="{5EF7C984-B7F7-1025-33FB-2B600EC98C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9028" y="1432560"/>
            <a:ext cx="2937012" cy="2937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0856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57BF15-77F4-81A2-80C5-9FFF0EB9D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Noto Sans JP Black" panose="020B0200000000000000" pitchFamily="34" charset="-122"/>
                <a:ea typeface="Noto Sans JP Black" panose="020B0200000000000000" pitchFamily="34" charset="-122"/>
              </a:rPr>
              <a:t>ABOUT US</a:t>
            </a:r>
            <a:endParaRPr lang="zh-CN" altLang="en-US" dirty="0">
              <a:latin typeface="Noto Sans JP Black" panose="020B0200000000000000" pitchFamily="34" charset="-122"/>
              <a:ea typeface="Noto Sans JP Black" panose="020B0200000000000000" pitchFamily="34" charset="-122"/>
            </a:endParaRP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C24DB54-D574-FD55-FE53-49E9081DB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48C643F-7FED-4F25-11FD-DAC5BBAF0A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25557" y="1426265"/>
            <a:ext cx="3374334" cy="50666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2EF4A6D-6FFF-68CC-E8B6-65E830DB7F3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139648" y="1426265"/>
            <a:ext cx="3374334" cy="50666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48C643F-7FED-4F25-11FD-DAC5BBAF0A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553739" y="1426265"/>
            <a:ext cx="3374334" cy="50666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2C8D887-4AF6-623B-0CF0-444AA513A77A}"/>
              </a:ext>
            </a:extLst>
          </p:cNvPr>
          <p:cNvSpPr txBox="1"/>
          <p:nvPr/>
        </p:nvSpPr>
        <p:spPr>
          <a:xfrm>
            <a:off x="838200" y="1470991"/>
            <a:ext cx="33014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Ceaserzhao</a:t>
            </a:r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(</a:t>
            </a:r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Wenzhang</a:t>
            </a:r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 Zhao)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32519DF-4396-EE40-F196-1B2B8184F6F4}"/>
              </a:ext>
            </a:extLst>
          </p:cNvPr>
          <p:cNvSpPr txBox="1"/>
          <p:nvPr/>
        </p:nvSpPr>
        <p:spPr>
          <a:xfrm>
            <a:off x="7603435" y="1570383"/>
            <a:ext cx="2375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Nissunay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4A7EB2D-D42C-32BB-753D-7542AF7493F8}"/>
              </a:ext>
            </a:extLst>
          </p:cNvPr>
          <p:cNvSpPr txBox="1"/>
          <p:nvPr/>
        </p:nvSpPr>
        <p:spPr>
          <a:xfrm>
            <a:off x="4212534" y="1506022"/>
            <a:ext cx="2360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Evan Tang</a:t>
            </a:r>
            <a:endParaRPr lang="zh-CN" altLang="en-US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F3FAF57-E3CA-6BCE-6225-D2B47D2E85FB}"/>
              </a:ext>
            </a:extLst>
          </p:cNvPr>
          <p:cNvSpPr txBox="1"/>
          <p:nvPr/>
        </p:nvSpPr>
        <p:spPr>
          <a:xfrm>
            <a:off x="803412" y="2993796"/>
            <a:ext cx="1984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FROM:CHINA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4BFAEE57-6187-1354-C277-3E1F0F28F38D}"/>
              </a:ext>
            </a:extLst>
          </p:cNvPr>
          <p:cNvSpPr txBox="1"/>
          <p:nvPr/>
        </p:nvSpPr>
        <p:spPr>
          <a:xfrm>
            <a:off x="7894983" y="3000855"/>
            <a:ext cx="22926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FROM:MEXICO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1729016-4456-C71E-DC83-89A95A42B7D7}"/>
              </a:ext>
            </a:extLst>
          </p:cNvPr>
          <p:cNvSpPr txBox="1"/>
          <p:nvPr/>
        </p:nvSpPr>
        <p:spPr>
          <a:xfrm>
            <a:off x="4400549" y="2993796"/>
            <a:ext cx="19845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FROM:CHINA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C95FC8B-340B-A0D6-AFC2-9FE45D242A91}"/>
              </a:ext>
            </a:extLst>
          </p:cNvPr>
          <p:cNvSpPr txBox="1"/>
          <p:nvPr/>
        </p:nvSpPr>
        <p:spPr>
          <a:xfrm>
            <a:off x="879613" y="2390361"/>
            <a:ext cx="25742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Founder &amp; CEO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C837F801-F554-A99E-4805-1F1B370A3691}"/>
              </a:ext>
            </a:extLst>
          </p:cNvPr>
          <p:cNvSpPr txBox="1"/>
          <p:nvPr/>
        </p:nvSpPr>
        <p:spPr>
          <a:xfrm>
            <a:off x="879613" y="4184374"/>
            <a:ext cx="2834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Github:https</a:t>
            </a:r>
            <a:r>
              <a:rPr lang="en-US" altLang="zh-CN" dirty="0"/>
              <a:t>://github.com/</a:t>
            </a:r>
            <a:r>
              <a:rPr lang="en-US" altLang="zh-CN" dirty="0" err="1"/>
              <a:t>zbbsdsb</a:t>
            </a:r>
            <a:endParaRPr lang="zh-CN" altLang="en-US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5057EE-A3DF-011D-6AE0-0A7DB9DDB33E}"/>
              </a:ext>
            </a:extLst>
          </p:cNvPr>
          <p:cNvSpPr txBox="1"/>
          <p:nvPr/>
        </p:nvSpPr>
        <p:spPr>
          <a:xfrm>
            <a:off x="4409661" y="4239602"/>
            <a:ext cx="2834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Github:https</a:t>
            </a:r>
            <a:r>
              <a:rPr lang="en-US" altLang="zh-CN" dirty="0"/>
              <a:t>://github.com/tangsky123</a:t>
            </a:r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20DD644-9AEC-2D9D-341B-D203AB0E32BA}"/>
              </a:ext>
            </a:extLst>
          </p:cNvPr>
          <p:cNvSpPr txBox="1"/>
          <p:nvPr/>
        </p:nvSpPr>
        <p:spPr>
          <a:xfrm>
            <a:off x="7894983" y="4219577"/>
            <a:ext cx="2834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Github:https</a:t>
            </a:r>
            <a:r>
              <a:rPr lang="en-US" altLang="zh-CN" dirty="0"/>
              <a:t>://github.com/</a:t>
            </a:r>
            <a:r>
              <a:rPr lang="en-US" altLang="zh-CN" dirty="0" err="1"/>
              <a:t>AmaiDonatsu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901082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24931133-1394-206A-42C1-88333E24455A}"/>
              </a:ext>
            </a:extLst>
          </p:cNvPr>
          <p:cNvSpPr/>
          <p:nvPr/>
        </p:nvSpPr>
        <p:spPr>
          <a:xfrm>
            <a:off x="3937000" y="4008072"/>
            <a:ext cx="3738880" cy="5486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91C089-2DD9-4D07-8D63-C8ED9D7BC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1681" y="2509022"/>
            <a:ext cx="11089088" cy="41096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9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Thx!</a:t>
            </a:r>
            <a:endParaRPr lang="zh-CN" altLang="en-US" sz="9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F2F8F8-0315-B701-59E8-0BEF377B872F}"/>
              </a:ext>
            </a:extLst>
          </p:cNvPr>
          <p:cNvSpPr txBox="1"/>
          <p:nvPr/>
        </p:nvSpPr>
        <p:spPr>
          <a:xfrm>
            <a:off x="7640320" y="2346960"/>
            <a:ext cx="6024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600" dirty="0"/>
              <a:t>:3</a:t>
            </a:r>
            <a:endParaRPr lang="zh-CN" altLang="en-US" sz="96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54208-BF2E-D901-D202-AC45D0777428}"/>
              </a:ext>
            </a:extLst>
          </p:cNvPr>
          <p:cNvSpPr txBox="1"/>
          <p:nvPr/>
        </p:nvSpPr>
        <p:spPr>
          <a:xfrm>
            <a:off x="2699744" y="2341880"/>
            <a:ext cx="294132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600" dirty="0">
                <a:latin typeface="Noto Sans SC Black" panose="020B0200000000000000" pitchFamily="34" charset="-122"/>
                <a:ea typeface="Noto Sans SC Black" panose="020B0200000000000000" pitchFamily="34" charset="-122"/>
              </a:rPr>
              <a:t>&lt;3</a:t>
            </a:r>
            <a:endParaRPr lang="zh-CN" altLang="en-US" sz="9600" dirty="0">
              <a:latin typeface="Noto Sans SC Black" panose="020B0200000000000000" pitchFamily="34" charset="-122"/>
              <a:ea typeface="Noto Sans SC Black" panose="020B0200000000000000" pitchFamily="34" charset="-122"/>
            </a:endParaRPr>
          </a:p>
        </p:txBody>
      </p:sp>
      <p:pic>
        <p:nvPicPr>
          <p:cNvPr id="6" name="图片 5" descr="徽标, 公司名称&#10;&#10;AI 生成的内容可能不正确。">
            <a:extLst>
              <a:ext uri="{FF2B5EF4-FFF2-40B4-BE49-F238E27FC236}">
                <a16:creationId xmlns:a16="http://schemas.microsoft.com/office/drawing/2014/main" id="{93C466F0-A5F8-6FBC-68F6-E3DE30C95C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503692"/>
            <a:ext cx="2937012" cy="2937012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0D2D6F82-B5AB-4A85-1681-DF9C92B9501C}"/>
              </a:ext>
            </a:extLst>
          </p:cNvPr>
          <p:cNvSpPr txBox="1"/>
          <p:nvPr/>
        </p:nvSpPr>
        <p:spPr>
          <a:xfrm>
            <a:off x="4663164" y="4097726"/>
            <a:ext cx="791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BIZ UDGothic" panose="020B0400000000000000" pitchFamily="33" charset="-128"/>
                <a:ea typeface="BIZ UDGothic" panose="020B0400000000000000" pitchFamily="33" charset="-128"/>
              </a:rPr>
              <a:t>Hope u 2 join us</a:t>
            </a:r>
            <a:endParaRPr lang="zh-CN" altLang="en-US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8BFC13D-DFEF-C4D8-6BDA-B20F6CD5B20D}"/>
              </a:ext>
            </a:extLst>
          </p:cNvPr>
          <p:cNvSpPr/>
          <p:nvPr/>
        </p:nvSpPr>
        <p:spPr>
          <a:xfrm>
            <a:off x="2250440" y="4868859"/>
            <a:ext cx="7218680" cy="14376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3B76593-CCDE-05A4-BAF1-1C4A1500DC9D}"/>
              </a:ext>
            </a:extLst>
          </p:cNvPr>
          <p:cNvSpPr txBox="1"/>
          <p:nvPr/>
        </p:nvSpPr>
        <p:spPr>
          <a:xfrm>
            <a:off x="3246120" y="5106170"/>
            <a:ext cx="56997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latin typeface="BIZ UDGothic" panose="020B0400000000000000" pitchFamily="33" charset="-128"/>
                <a:ea typeface="BIZ UDGothic" panose="020B0400000000000000" pitchFamily="33" charset="-128"/>
              </a:rPr>
              <a:t>E-mail:zhaoceaser@gmail.com</a:t>
            </a:r>
            <a:endParaRPr lang="en-US" altLang="zh-CN" sz="24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  <a:p>
            <a:r>
              <a:rPr lang="en-US" altLang="zh-CN" sz="2400" dirty="0">
                <a:latin typeface="BIZ UDGothic" panose="020B0400000000000000" pitchFamily="33" charset="-128"/>
                <a:ea typeface="BIZ UDGothic" panose="020B0400000000000000" pitchFamily="33" charset="-128"/>
              </a:rPr>
              <a:t>           OITS@oermos.com</a:t>
            </a:r>
            <a:endParaRPr lang="zh-CN" altLang="en-US" sz="24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  <a:p>
            <a:endParaRPr lang="zh-CN" altLang="en-US" sz="2400" dirty="0">
              <a:latin typeface="BIZ UDGothic" panose="020B0400000000000000" pitchFamily="33" charset="-128"/>
              <a:ea typeface="BIZ UDGothic" panose="020B0400000000000000" pitchFamily="33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679697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293</Words>
  <Application>Microsoft Office PowerPoint</Application>
  <PresentationFormat>宽屏</PresentationFormat>
  <Paragraphs>85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BIZ UDGothic</vt:lpstr>
      <vt:lpstr>Noto Sans JP Black</vt:lpstr>
      <vt:lpstr>Noto Sans SC Black</vt:lpstr>
      <vt:lpstr>等线</vt:lpstr>
      <vt:lpstr>等线 Light</vt:lpstr>
      <vt:lpstr>Arial</vt:lpstr>
      <vt:lpstr>Office 主题​​</vt:lpstr>
      <vt:lpstr>PowerPoint 演示文稿</vt:lpstr>
      <vt:lpstr>AMAR Engine Architecture</vt:lpstr>
      <vt:lpstr>From Raw Information to Structured Reality</vt:lpstr>
      <vt:lpstr>AMAR WORLD — The Persistent World Standard</vt:lpstr>
      <vt:lpstr>Execution Layer</vt:lpstr>
      <vt:lpstr>Why AMAR?</vt:lpstr>
      <vt:lpstr>ABOUT US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62</cp:revision>
  <dcterms:created xsi:type="dcterms:W3CDTF">2026-02-23T06:38:44Z</dcterms:created>
  <dcterms:modified xsi:type="dcterms:W3CDTF">2026-02-25T05:04:49Z</dcterms:modified>
</cp:coreProperties>
</file>