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3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C5895B-3708-46E1-A199-8735536F71F9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B730D5-1C7C-4557-8722-3813F1ECD0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78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730D5-1C7C-4557-8722-3813F1ECD0F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1580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8CD52A-DE3B-BE71-350B-E0DA387818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384FA8A-1033-77A5-23AA-6BA909B53F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894D39-C9A0-47E1-C3FA-5965ED9F2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797A85-3C27-F384-B033-4EE09B5AE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E076C9-73B9-4F1A-5715-93578D04A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207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82B7B3-3C3C-EB2D-EF2F-B646B137F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B6259B-4CF5-CFDC-9E76-6CBB7AA52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BEF238-4A98-DACC-9938-0F061C665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E4796B-D471-1C09-2657-99D15A36A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146646-42C6-A5ED-3243-05AE3678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630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DF58A7-5E14-37F3-D19F-55992BBAD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20C047-B1A1-E1E9-668C-DC9F1A9F2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623E90-9165-9EDE-3C1B-B89B67DAE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C63088-9412-AD88-B3ED-C59575294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0F08F5-8ED6-368E-56BE-678EFF7FD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2090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916D7C-93AD-CBE0-1012-F1F704DB5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9077C6-69A9-3FC8-BFB7-F269420FB4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DE25740-E8FC-DAC5-DA21-6D8C4D1BB9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BB5C87-9350-6547-C670-B082CEEE7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44FCA6-EB23-7AC7-B0F9-BABF35A38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CF9602-39AB-970D-0611-28D239880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782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9591DC-24CF-F439-5CB0-79BB1BAC1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0B69D3-9DB8-4827-428A-4EB2C48E2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2FFB99-5740-4906-ACD2-31F70D628B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E669422-187D-21AC-D1BC-304483023B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65CE476-1566-0FCE-0FDB-FC88E32FED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15DDDD0-EC57-0C3F-FF3C-AD6A53F51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E6653A1-D149-00FC-0976-36B828D13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3476CF6-4152-B633-9EE9-6DFEA9F8D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728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33DAA9-949C-54E6-B7CB-26199B591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CA43C51-2A94-0711-B259-15FB64245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FCE168A-DF1C-0E2D-80F3-DDBC02451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A1541F4-A108-331F-3D00-3D0860872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5069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B6CE88-E7AD-8A67-114D-1F811C6EB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672603B-21A9-D219-6D55-126A516D8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152145-5B1E-4D8C-75A1-673B81998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8710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41F1B0-A8EC-3CC6-D16C-0B5531B8C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20D66E-1C41-822F-4F6B-92A48D61D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2996C57-B890-146B-76B4-321CE7C766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46C34D-10F0-D542-B130-6A03FD430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4A3208-8399-4CE7-B568-87D5D7E88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DD7083-CD2C-64D2-0086-03203945E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887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F1848E-E26E-E9B7-862E-CFE0327FD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667FA1D-896F-E1BF-1A07-618EEC0FEB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57E9F60-070A-3DD2-7F07-301227BD36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EB7E5C-18A6-85E8-058F-DB4C5BB02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998262-CE2B-1785-6582-A53EE80AA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FABB55-4AC8-F240-56FF-06332352B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602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AB6511-DA96-C1F4-7DAE-AC70341F7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149C03-06DC-B405-84EC-5831A0C78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BF9FC8-CC88-48E5-1ADA-5B3A3D9AD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1FDA95-896F-78F9-572E-254994AE8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62388B-85F8-F282-2549-7B84C5FFD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697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198E671-E0AE-8555-E1B0-B2AE28F262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159B148-8483-B7BC-E41B-627785FAE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52101F-E64F-721F-26C7-D2420358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F56CA3-4BF5-44B0-A094-22F5196DA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3DBB69-14F6-CF9C-7CAD-B4104BA0E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68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D42649F-C169-1BD6-FF29-1830D1A74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16D336-937B-59A5-022D-712C7D52D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24A777-CFA0-2D47-3C9A-A43E35B1C1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98B24C-C9E3-4F8A-B4AE-8209A59F7979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BA3D48-7783-77F9-8A40-75FDF91CB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E0B161-D714-6031-E440-1ACE968FDE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9709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0B98E8-F404-42E7-CA06-370C9587E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AMAR ENGINE</a:t>
            </a:r>
            <a:endParaRPr lang="zh-CN" altLang="en-US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31B3ED-CEF1-2C3A-C2D1-88C17296B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 descr="徽标, 公司名称&#10;&#10;AI 生成的内容可能不正确。">
            <a:extLst>
              <a:ext uri="{FF2B5EF4-FFF2-40B4-BE49-F238E27FC236}">
                <a16:creationId xmlns:a16="http://schemas.microsoft.com/office/drawing/2014/main" id="{1185C566-0941-CCAE-731E-B1D0F3C298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9505" y="87313"/>
            <a:ext cx="1670843" cy="1670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474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>
            <a:extLst>
              <a:ext uri="{FF2B5EF4-FFF2-40B4-BE49-F238E27FC236}">
                <a16:creationId xmlns:a16="http://schemas.microsoft.com/office/drawing/2014/main" id="{5BE91CDD-C68E-59CC-BA62-6297C4EBBCC4}"/>
              </a:ext>
            </a:extLst>
          </p:cNvPr>
          <p:cNvSpPr/>
          <p:nvPr/>
        </p:nvSpPr>
        <p:spPr>
          <a:xfrm>
            <a:off x="81998" y="5883965"/>
            <a:ext cx="2800350" cy="85055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A767945-2F1C-E6A0-D465-7D0850E0514B}"/>
              </a:ext>
            </a:extLst>
          </p:cNvPr>
          <p:cNvSpPr/>
          <p:nvPr/>
        </p:nvSpPr>
        <p:spPr>
          <a:xfrm>
            <a:off x="81998" y="5198169"/>
            <a:ext cx="2425810" cy="61577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1D13E15-AC94-633D-5CED-1A5950B4E791}"/>
              </a:ext>
            </a:extLst>
          </p:cNvPr>
          <p:cNvSpPr/>
          <p:nvPr/>
        </p:nvSpPr>
        <p:spPr>
          <a:xfrm>
            <a:off x="71396" y="4489659"/>
            <a:ext cx="2436412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FC3AC08-1B62-48A1-797F-2AAA0B113715}"/>
              </a:ext>
            </a:extLst>
          </p:cNvPr>
          <p:cNvSpPr/>
          <p:nvPr/>
        </p:nvSpPr>
        <p:spPr>
          <a:xfrm>
            <a:off x="1289602" y="631134"/>
            <a:ext cx="2489752" cy="325009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CC5C1A-A47F-0EB6-EFF3-B21231832262}"/>
              </a:ext>
            </a:extLst>
          </p:cNvPr>
          <p:cNvSpPr/>
          <p:nvPr/>
        </p:nvSpPr>
        <p:spPr>
          <a:xfrm>
            <a:off x="1759226" y="1212574"/>
            <a:ext cx="1550504" cy="7851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1BC4E6-8331-AEDE-3946-7F2EAA6E5774}"/>
              </a:ext>
            </a:extLst>
          </p:cNvPr>
          <p:cNvSpPr/>
          <p:nvPr/>
        </p:nvSpPr>
        <p:spPr>
          <a:xfrm>
            <a:off x="1759226" y="2080591"/>
            <a:ext cx="1550504" cy="7851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A8275DF-53D8-4E1E-AA98-EB8720A2D58A}"/>
              </a:ext>
            </a:extLst>
          </p:cNvPr>
          <p:cNvSpPr/>
          <p:nvPr/>
        </p:nvSpPr>
        <p:spPr>
          <a:xfrm>
            <a:off x="1759226" y="2948608"/>
            <a:ext cx="1550504" cy="7851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43141FA-B24C-18E7-D130-E91BF5CF010E}"/>
              </a:ext>
            </a:extLst>
          </p:cNvPr>
          <p:cNvSpPr txBox="1"/>
          <p:nvPr/>
        </p:nvSpPr>
        <p:spPr>
          <a:xfrm>
            <a:off x="2087217" y="695811"/>
            <a:ext cx="1396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MS UI Gothic" panose="020B0600070205080204" pitchFamily="34" charset="-128"/>
                <a:ea typeface="MS UI Gothic" panose="020B0600070205080204" pitchFamily="34" charset="-128"/>
              </a:rPr>
              <a:t>INPUT</a:t>
            </a:r>
            <a:endParaRPr lang="zh-CN" alt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4C27B1-FD70-8F48-D8C5-EAFAB2532D61}"/>
              </a:ext>
            </a:extLst>
          </p:cNvPr>
          <p:cNvSpPr/>
          <p:nvPr/>
        </p:nvSpPr>
        <p:spPr>
          <a:xfrm>
            <a:off x="9064486" y="506895"/>
            <a:ext cx="2594113" cy="592869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0363CCF-F9C6-2297-5930-700E203DDB8F}"/>
              </a:ext>
            </a:extLst>
          </p:cNvPr>
          <p:cNvSpPr/>
          <p:nvPr/>
        </p:nvSpPr>
        <p:spPr>
          <a:xfrm>
            <a:off x="9230689" y="971351"/>
            <a:ext cx="2251213" cy="384147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9014885-527C-63CE-94D9-F425BD860CD2}"/>
              </a:ext>
            </a:extLst>
          </p:cNvPr>
          <p:cNvSpPr/>
          <p:nvPr/>
        </p:nvSpPr>
        <p:spPr>
          <a:xfrm>
            <a:off x="9278176" y="4904961"/>
            <a:ext cx="2166730" cy="144614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1BC3741-A913-0762-7012-A3B0A65F83F3}"/>
              </a:ext>
            </a:extLst>
          </p:cNvPr>
          <p:cNvSpPr txBox="1"/>
          <p:nvPr/>
        </p:nvSpPr>
        <p:spPr>
          <a:xfrm>
            <a:off x="9695622" y="558284"/>
            <a:ext cx="2107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OUTPUT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7C17DFB-C0FF-F35A-5DF0-66D74223F73C}"/>
              </a:ext>
            </a:extLst>
          </p:cNvPr>
          <p:cNvSpPr txBox="1"/>
          <p:nvPr/>
        </p:nvSpPr>
        <p:spPr>
          <a:xfrm>
            <a:off x="9509259" y="5013503"/>
            <a:ext cx="1704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EME WORLD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E932628-2694-BD66-E75B-F1B3E9707A87}"/>
              </a:ext>
            </a:extLst>
          </p:cNvPr>
          <p:cNvSpPr txBox="1"/>
          <p:nvPr/>
        </p:nvSpPr>
        <p:spPr>
          <a:xfrm>
            <a:off x="2087217" y="2256182"/>
            <a:ext cx="1386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LLM API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B4FEC95-B6E1-D130-EA6A-8CD95B0ADEA5}"/>
              </a:ext>
            </a:extLst>
          </p:cNvPr>
          <p:cNvSpPr txBox="1"/>
          <p:nvPr/>
        </p:nvSpPr>
        <p:spPr>
          <a:xfrm>
            <a:off x="1993900" y="3124200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3DGS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7F2FB6D-5423-ABA2-ABC5-C18DB98A8523}"/>
              </a:ext>
            </a:extLst>
          </p:cNvPr>
          <p:cNvSpPr txBox="1"/>
          <p:nvPr/>
        </p:nvSpPr>
        <p:spPr>
          <a:xfrm>
            <a:off x="9559290" y="5474970"/>
            <a:ext cx="1615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We don't need to consider this for now.</a:t>
            </a:r>
            <a:endParaRPr lang="zh-CN" altLang="en-US" sz="12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BD2CF9C-6E52-A147-8215-55B8D7F3892E}"/>
              </a:ext>
            </a:extLst>
          </p:cNvPr>
          <p:cNvSpPr txBox="1"/>
          <p:nvPr/>
        </p:nvSpPr>
        <p:spPr>
          <a:xfrm>
            <a:off x="1870074" y="1263650"/>
            <a:ext cx="1463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Photo,video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3C047A2-B398-185B-A46F-9A774994271B}"/>
              </a:ext>
            </a:extLst>
          </p:cNvPr>
          <p:cNvSpPr/>
          <p:nvPr/>
        </p:nvSpPr>
        <p:spPr>
          <a:xfrm>
            <a:off x="4089400" y="1212850"/>
            <a:ext cx="1339850" cy="7048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5940A9D-0E41-7561-4CC1-21F5DEAC1D2A}"/>
              </a:ext>
            </a:extLst>
          </p:cNvPr>
          <p:cNvSpPr txBox="1"/>
          <p:nvPr/>
        </p:nvSpPr>
        <p:spPr>
          <a:xfrm>
            <a:off x="4264025" y="1355725"/>
            <a:ext cx="1165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Tahoe</a:t>
            </a:r>
            <a:endParaRPr lang="zh-CN" altLang="en-US" dirty="0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243B9B5A-9DF2-5739-FB44-60C57D9F2FFD}"/>
              </a:ext>
            </a:extLst>
          </p:cNvPr>
          <p:cNvSpPr/>
          <p:nvPr/>
        </p:nvSpPr>
        <p:spPr>
          <a:xfrm>
            <a:off x="3419475" y="1355725"/>
            <a:ext cx="628650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BC2F963A-4350-5A96-3512-FB11643490A2}"/>
              </a:ext>
            </a:extLst>
          </p:cNvPr>
          <p:cNvSpPr/>
          <p:nvPr/>
        </p:nvSpPr>
        <p:spPr>
          <a:xfrm>
            <a:off x="5176836" y="1263650"/>
            <a:ext cx="165100" cy="1778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D984F89-675C-46D8-A980-F7F632A9E723}"/>
              </a:ext>
            </a:extLst>
          </p:cNvPr>
          <p:cNvSpPr txBox="1"/>
          <p:nvPr/>
        </p:nvSpPr>
        <p:spPr>
          <a:xfrm>
            <a:off x="5137945" y="1225592"/>
            <a:ext cx="16509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1</a:t>
            </a:r>
            <a:endParaRPr lang="zh-CN" altLang="en-US" sz="105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A8D103F-E6D2-0C69-1F32-C58447F00C71}"/>
              </a:ext>
            </a:extLst>
          </p:cNvPr>
          <p:cNvSpPr/>
          <p:nvPr/>
        </p:nvSpPr>
        <p:spPr>
          <a:xfrm>
            <a:off x="9355381" y="3881230"/>
            <a:ext cx="2012315" cy="82793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3FC6DA9-36F2-0E5E-B307-2E7EC4D673C1}"/>
              </a:ext>
            </a:extLst>
          </p:cNvPr>
          <p:cNvSpPr txBox="1"/>
          <p:nvPr/>
        </p:nvSpPr>
        <p:spPr>
          <a:xfrm>
            <a:off x="9890712" y="4066792"/>
            <a:ext cx="1824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Genesis</a:t>
            </a:r>
            <a:endParaRPr lang="zh-CN" altLang="en-US" dirty="0"/>
          </a:p>
        </p:txBody>
      </p:sp>
      <p:sp>
        <p:nvSpPr>
          <p:cNvPr id="26" name="箭头: 下 25">
            <a:extLst>
              <a:ext uri="{FF2B5EF4-FFF2-40B4-BE49-F238E27FC236}">
                <a16:creationId xmlns:a16="http://schemas.microsoft.com/office/drawing/2014/main" id="{700ED5AB-62A5-D122-4C9A-C7D989BAA292}"/>
              </a:ext>
            </a:extLst>
          </p:cNvPr>
          <p:cNvSpPr/>
          <p:nvPr/>
        </p:nvSpPr>
        <p:spPr>
          <a:xfrm>
            <a:off x="9559290" y="3429000"/>
            <a:ext cx="444443" cy="36009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ED7DF7D-79DE-FE7D-5649-FF5EB5BC2C22}"/>
              </a:ext>
            </a:extLst>
          </p:cNvPr>
          <p:cNvSpPr txBox="1"/>
          <p:nvPr/>
        </p:nvSpPr>
        <p:spPr>
          <a:xfrm>
            <a:off x="10042525" y="3429000"/>
            <a:ext cx="1235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Based on</a:t>
            </a:r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80FCCE-7103-9A73-DF05-607D4895CFFA}"/>
              </a:ext>
            </a:extLst>
          </p:cNvPr>
          <p:cNvSpPr/>
          <p:nvPr/>
        </p:nvSpPr>
        <p:spPr>
          <a:xfrm>
            <a:off x="9302750" y="2498725"/>
            <a:ext cx="2107093" cy="78105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EF0427C-E840-5409-49CD-F2C8B5FCE8F9}"/>
              </a:ext>
            </a:extLst>
          </p:cNvPr>
          <p:cNvSpPr txBox="1"/>
          <p:nvPr/>
        </p:nvSpPr>
        <p:spPr>
          <a:xfrm>
            <a:off x="9404350" y="2673350"/>
            <a:ext cx="1809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AMAR GENIS</a:t>
            </a:r>
            <a:endParaRPr lang="zh-CN" altLang="en-US" dirty="0"/>
          </a:p>
        </p:txBody>
      </p:sp>
      <p:sp>
        <p:nvSpPr>
          <p:cNvPr id="30" name="箭头: 下 29">
            <a:extLst>
              <a:ext uri="{FF2B5EF4-FFF2-40B4-BE49-F238E27FC236}">
                <a16:creationId xmlns:a16="http://schemas.microsoft.com/office/drawing/2014/main" id="{C31BD1BD-369A-84A0-021F-9407484AB32E}"/>
              </a:ext>
            </a:extLst>
          </p:cNvPr>
          <p:cNvSpPr/>
          <p:nvPr/>
        </p:nvSpPr>
        <p:spPr>
          <a:xfrm>
            <a:off x="9559290" y="2080591"/>
            <a:ext cx="330835" cy="33365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51AB83E-90C0-6DF1-EA2C-97C28F7E3EED}"/>
              </a:ext>
            </a:extLst>
          </p:cNvPr>
          <p:cNvSpPr txBox="1"/>
          <p:nvPr/>
        </p:nvSpPr>
        <p:spPr>
          <a:xfrm>
            <a:off x="9974332" y="2013332"/>
            <a:ext cx="1371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Based on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85A8567-5450-9BDE-A4B3-74EC53705452}"/>
              </a:ext>
            </a:extLst>
          </p:cNvPr>
          <p:cNvSpPr txBox="1"/>
          <p:nvPr/>
        </p:nvSpPr>
        <p:spPr>
          <a:xfrm>
            <a:off x="81998" y="4489660"/>
            <a:ext cx="27581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1.This is a world model based on </a:t>
            </a:r>
            <a:r>
              <a:rPr lang="en-US" altLang="zh-CN" dirty="0" err="1"/>
              <a:t>SpatialLM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9490E92-BF83-D9A6-E7D6-9841493BFCED}"/>
              </a:ext>
            </a:extLst>
          </p:cNvPr>
          <p:cNvSpPr txBox="1"/>
          <p:nvPr/>
        </p:nvSpPr>
        <p:spPr>
          <a:xfrm>
            <a:off x="104361" y="4086765"/>
            <a:ext cx="1316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Notes: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EC00E08-8A78-CF2F-D06A-505750BC38A3}"/>
              </a:ext>
            </a:extLst>
          </p:cNvPr>
          <p:cNvSpPr txBox="1"/>
          <p:nvPr/>
        </p:nvSpPr>
        <p:spPr>
          <a:xfrm>
            <a:off x="160682" y="61404"/>
            <a:ext cx="4635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Noto Sans JP Black" panose="020B0200000000000000" pitchFamily="34" charset="-122"/>
                <a:ea typeface="Noto Sans JP Black" panose="020B0200000000000000" pitchFamily="34" charset="-122"/>
              </a:rPr>
              <a:t>AMAR ENGINE     </a:t>
            </a:r>
            <a:r>
              <a:rPr lang="en-US" altLang="zh-CN" dirty="0"/>
              <a:t>User Experience Flow</a:t>
            </a:r>
            <a:endParaRPr lang="zh-CN" altLang="en-US" dirty="0">
              <a:latin typeface="Noto Sans JP Black" panose="020B0200000000000000" pitchFamily="34" charset="-122"/>
              <a:ea typeface="Noto Sans JP Black" panose="020B0200000000000000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F7F5F47-DAAD-CCCA-1923-407607941B71}"/>
              </a:ext>
            </a:extLst>
          </p:cNvPr>
          <p:cNvSpPr txBox="1"/>
          <p:nvPr/>
        </p:nvSpPr>
        <p:spPr>
          <a:xfrm>
            <a:off x="104361" y="800100"/>
            <a:ext cx="10411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err="1">
                <a:latin typeface="Britannic Bold" panose="020B0903060703020204" pitchFamily="34" charset="0"/>
              </a:rPr>
              <a:t>ceaserzhao</a:t>
            </a:r>
            <a:endParaRPr lang="zh-CN" altLang="en-US" sz="1100" dirty="0">
              <a:latin typeface="Britannic Bold" panose="020B0903060703020204" pitchFamily="34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A1544BB-AF39-1C71-DF33-8DB37E71A01D}"/>
              </a:ext>
            </a:extLst>
          </p:cNvPr>
          <p:cNvSpPr/>
          <p:nvPr/>
        </p:nvSpPr>
        <p:spPr>
          <a:xfrm>
            <a:off x="5610760" y="558284"/>
            <a:ext cx="2737025" cy="504822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47E795D-4F29-B6D3-743C-EAC0C77F773F}"/>
              </a:ext>
            </a:extLst>
          </p:cNvPr>
          <p:cNvSpPr txBox="1"/>
          <p:nvPr/>
        </p:nvSpPr>
        <p:spPr>
          <a:xfrm>
            <a:off x="6341164" y="646115"/>
            <a:ext cx="2216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AME ADMIN</a:t>
            </a:r>
            <a:endParaRPr lang="zh-CN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CD7EADD-6243-D921-FA03-9AD0956E200C}"/>
              </a:ext>
            </a:extLst>
          </p:cNvPr>
          <p:cNvSpPr/>
          <p:nvPr/>
        </p:nvSpPr>
        <p:spPr>
          <a:xfrm>
            <a:off x="3436711" y="4471454"/>
            <a:ext cx="1604484" cy="55296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箭头: 右 37">
            <a:extLst>
              <a:ext uri="{FF2B5EF4-FFF2-40B4-BE49-F238E27FC236}">
                <a16:creationId xmlns:a16="http://schemas.microsoft.com/office/drawing/2014/main" id="{A147669C-5D84-B053-896E-C267DF095108}"/>
              </a:ext>
            </a:extLst>
          </p:cNvPr>
          <p:cNvSpPr/>
          <p:nvPr/>
        </p:nvSpPr>
        <p:spPr>
          <a:xfrm rot="3387979">
            <a:off x="2522053" y="3969231"/>
            <a:ext cx="1480950" cy="1048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169AFDA-52E0-C61E-B0EA-F90CCD6F3261}"/>
              </a:ext>
            </a:extLst>
          </p:cNvPr>
          <p:cNvSpPr txBox="1"/>
          <p:nvPr/>
        </p:nvSpPr>
        <p:spPr>
          <a:xfrm>
            <a:off x="3412207" y="4575579"/>
            <a:ext cx="1729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AME SCANNER</a:t>
            </a:r>
            <a:endParaRPr lang="zh-CN" altLang="en-US" dirty="0"/>
          </a:p>
        </p:txBody>
      </p:sp>
      <p:pic>
        <p:nvPicPr>
          <p:cNvPr id="42" name="图片 41" descr="徽标, 公司名称&#10;&#10;AI 生成的内容可能不正确。">
            <a:extLst>
              <a:ext uri="{FF2B5EF4-FFF2-40B4-BE49-F238E27FC236}">
                <a16:creationId xmlns:a16="http://schemas.microsoft.com/office/drawing/2014/main" id="{1185C566-0941-CCAE-731E-B1D0F3C298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66" y="1267033"/>
            <a:ext cx="930965" cy="930965"/>
          </a:xfrm>
          <a:prstGeom prst="rect">
            <a:avLst/>
          </a:prstGeom>
        </p:spPr>
      </p:pic>
      <p:sp>
        <p:nvSpPr>
          <p:cNvPr id="43" name="箭头: 右 42">
            <a:extLst>
              <a:ext uri="{FF2B5EF4-FFF2-40B4-BE49-F238E27FC236}">
                <a16:creationId xmlns:a16="http://schemas.microsoft.com/office/drawing/2014/main" id="{BE5614AD-DE1D-D731-B3EC-78B017719254}"/>
              </a:ext>
            </a:extLst>
          </p:cNvPr>
          <p:cNvSpPr/>
          <p:nvPr/>
        </p:nvSpPr>
        <p:spPr>
          <a:xfrm>
            <a:off x="8348870" y="1263650"/>
            <a:ext cx="984387" cy="4614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7507A5E4-71F8-791F-BCCC-06F99122A4FE}"/>
              </a:ext>
            </a:extLst>
          </p:cNvPr>
          <p:cNvSpPr/>
          <p:nvPr/>
        </p:nvSpPr>
        <p:spPr>
          <a:xfrm>
            <a:off x="8887789" y="1390608"/>
            <a:ext cx="165100" cy="1778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93CA584-C824-EF90-2C46-ADFFCFEF5D1B}"/>
              </a:ext>
            </a:extLst>
          </p:cNvPr>
          <p:cNvSpPr txBox="1"/>
          <p:nvPr/>
        </p:nvSpPr>
        <p:spPr>
          <a:xfrm>
            <a:off x="8875955" y="1341008"/>
            <a:ext cx="1047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</a:t>
            </a:r>
            <a:endParaRPr lang="zh-CN" altLang="en-US" sz="1200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F354C7C6-FB1B-9D3D-BFC1-05AE942125F9}"/>
              </a:ext>
            </a:extLst>
          </p:cNvPr>
          <p:cNvSpPr txBox="1"/>
          <p:nvPr/>
        </p:nvSpPr>
        <p:spPr>
          <a:xfrm>
            <a:off x="104361" y="5151804"/>
            <a:ext cx="2251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2.A series of complex processes</a:t>
            </a:r>
            <a:endParaRPr lang="zh-CN" altLang="en-US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0295B0E-594C-85D8-8168-93220D4456C5}"/>
              </a:ext>
            </a:extLst>
          </p:cNvPr>
          <p:cNvSpPr txBox="1"/>
          <p:nvPr/>
        </p:nvSpPr>
        <p:spPr>
          <a:xfrm>
            <a:off x="119818" y="1002639"/>
            <a:ext cx="113089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BIZ UDGothic" panose="020B0400000000000000" pitchFamily="33" charset="-128"/>
                <a:ea typeface="BIZ UDGothic" panose="020B0400000000000000" pitchFamily="33" charset="-128"/>
              </a:rPr>
              <a:t>2.23.2026</a:t>
            </a:r>
            <a:endParaRPr lang="zh-CN" altLang="en-US" sz="900" dirty="0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A94C40C3-64B0-CCA4-53B5-999BD45EED56}"/>
              </a:ext>
            </a:extLst>
          </p:cNvPr>
          <p:cNvSpPr/>
          <p:nvPr/>
        </p:nvSpPr>
        <p:spPr>
          <a:xfrm>
            <a:off x="5916646" y="4489659"/>
            <a:ext cx="2329070" cy="919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7C41404F-074F-EFA6-6F99-23FE4C2D4586}"/>
              </a:ext>
            </a:extLst>
          </p:cNvPr>
          <p:cNvSpPr/>
          <p:nvPr/>
        </p:nvSpPr>
        <p:spPr>
          <a:xfrm>
            <a:off x="8004022" y="4561514"/>
            <a:ext cx="165100" cy="1778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FFFDC12D-85AB-9D4D-9545-B52B2D7A92B1}"/>
              </a:ext>
            </a:extLst>
          </p:cNvPr>
          <p:cNvSpPr txBox="1"/>
          <p:nvPr/>
        </p:nvSpPr>
        <p:spPr>
          <a:xfrm rot="2135733">
            <a:off x="3502939" y="3728810"/>
            <a:ext cx="2800350" cy="246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SKILLS, Or rather, a kind of standard</a:t>
            </a:r>
            <a:endParaRPr lang="zh-CN" altLang="en-US" sz="1000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0104898-28DC-AACA-4AAD-10E7B0A39FC3}"/>
              </a:ext>
            </a:extLst>
          </p:cNvPr>
          <p:cNvSpPr txBox="1"/>
          <p:nvPr/>
        </p:nvSpPr>
        <p:spPr>
          <a:xfrm>
            <a:off x="7976789" y="4512965"/>
            <a:ext cx="126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</a:t>
            </a:r>
            <a:endParaRPr lang="zh-CN" altLang="en-US" sz="1200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B01BC64A-0B9C-7C8D-5128-C63671FE39D0}"/>
              </a:ext>
            </a:extLst>
          </p:cNvPr>
          <p:cNvSpPr txBox="1"/>
          <p:nvPr/>
        </p:nvSpPr>
        <p:spPr>
          <a:xfrm>
            <a:off x="6242973" y="4751746"/>
            <a:ext cx="1992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Information pool</a:t>
            </a:r>
            <a:endParaRPr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4FCD0B7A-C985-AB96-0D55-2070385574F8}"/>
              </a:ext>
            </a:extLst>
          </p:cNvPr>
          <p:cNvSpPr txBox="1"/>
          <p:nvPr/>
        </p:nvSpPr>
        <p:spPr>
          <a:xfrm>
            <a:off x="71396" y="5834724"/>
            <a:ext cx="28475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3.A brand new data format, similar to JSON, used to describe the world.</a:t>
            </a:r>
            <a:endParaRPr lang="zh-CN" altLang="en-US" dirty="0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07C96C36-189C-C3D9-BE5B-FAA9F27B3497}"/>
              </a:ext>
            </a:extLst>
          </p:cNvPr>
          <p:cNvSpPr/>
          <p:nvPr/>
        </p:nvSpPr>
        <p:spPr>
          <a:xfrm>
            <a:off x="9355381" y="1128091"/>
            <a:ext cx="1990410" cy="80076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F137B836-92A7-B07C-ED52-F2FE7B306DD5}"/>
              </a:ext>
            </a:extLst>
          </p:cNvPr>
          <p:cNvSpPr txBox="1"/>
          <p:nvPr/>
        </p:nvSpPr>
        <p:spPr>
          <a:xfrm>
            <a:off x="9509259" y="1361799"/>
            <a:ext cx="1768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AMAR WORLD</a:t>
            </a:r>
            <a:endParaRPr lang="zh-CN" altLang="en-US" dirty="0"/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91FF571D-A82E-A345-2CD6-61B33F45B558}"/>
              </a:ext>
            </a:extLst>
          </p:cNvPr>
          <p:cNvSpPr/>
          <p:nvPr/>
        </p:nvSpPr>
        <p:spPr>
          <a:xfrm>
            <a:off x="11146596" y="1206394"/>
            <a:ext cx="165100" cy="1778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箭头: 下 22">
            <a:extLst>
              <a:ext uri="{FF2B5EF4-FFF2-40B4-BE49-F238E27FC236}">
                <a16:creationId xmlns:a16="http://schemas.microsoft.com/office/drawing/2014/main" id="{4F7D1D11-8F9D-80B6-8645-FCB0F675687E}"/>
              </a:ext>
            </a:extLst>
          </p:cNvPr>
          <p:cNvSpPr/>
          <p:nvPr/>
        </p:nvSpPr>
        <p:spPr>
          <a:xfrm rot="18322881">
            <a:off x="4537787" y="1914341"/>
            <a:ext cx="65706" cy="36525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箭头: 右 66">
            <a:extLst>
              <a:ext uri="{FF2B5EF4-FFF2-40B4-BE49-F238E27FC236}">
                <a16:creationId xmlns:a16="http://schemas.microsoft.com/office/drawing/2014/main" id="{1AAC0EBF-B5EE-90C9-23A8-F154B4C463E8}"/>
              </a:ext>
            </a:extLst>
          </p:cNvPr>
          <p:cNvSpPr/>
          <p:nvPr/>
        </p:nvSpPr>
        <p:spPr>
          <a:xfrm rot="1033216">
            <a:off x="4784492" y="5102124"/>
            <a:ext cx="1483561" cy="1444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箭头: 右 67">
            <a:extLst>
              <a:ext uri="{FF2B5EF4-FFF2-40B4-BE49-F238E27FC236}">
                <a16:creationId xmlns:a16="http://schemas.microsoft.com/office/drawing/2014/main" id="{B53A8CC6-455A-49B3-EEAA-4547947B409E}"/>
              </a:ext>
            </a:extLst>
          </p:cNvPr>
          <p:cNvSpPr/>
          <p:nvPr/>
        </p:nvSpPr>
        <p:spPr>
          <a:xfrm rot="3389305" flipV="1">
            <a:off x="3481763" y="3198494"/>
            <a:ext cx="3545715" cy="139763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593706C-6739-ABAB-6769-0B8812CB2B71}"/>
              </a:ext>
            </a:extLst>
          </p:cNvPr>
          <p:cNvSpPr/>
          <p:nvPr/>
        </p:nvSpPr>
        <p:spPr>
          <a:xfrm>
            <a:off x="5891150" y="3142862"/>
            <a:ext cx="2318603" cy="7734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箭头: 下 45">
            <a:extLst>
              <a:ext uri="{FF2B5EF4-FFF2-40B4-BE49-F238E27FC236}">
                <a16:creationId xmlns:a16="http://schemas.microsoft.com/office/drawing/2014/main" id="{34FB12DA-509A-40D4-9871-CF55B5D22465}"/>
              </a:ext>
            </a:extLst>
          </p:cNvPr>
          <p:cNvSpPr/>
          <p:nvPr/>
        </p:nvSpPr>
        <p:spPr>
          <a:xfrm rot="10800000">
            <a:off x="6663690" y="3981450"/>
            <a:ext cx="842851" cy="454673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568D3FC-8C82-1D80-EB73-EC98129BF820}"/>
              </a:ext>
            </a:extLst>
          </p:cNvPr>
          <p:cNvSpPr txBox="1"/>
          <p:nvPr/>
        </p:nvSpPr>
        <p:spPr>
          <a:xfrm>
            <a:off x="6368307" y="3344911"/>
            <a:ext cx="1979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分配元类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4A8AC55-15E7-0AD6-2A4C-34CAA155B5AA}"/>
              </a:ext>
            </a:extLst>
          </p:cNvPr>
          <p:cNvSpPr/>
          <p:nvPr/>
        </p:nvSpPr>
        <p:spPr>
          <a:xfrm>
            <a:off x="5880445" y="1982778"/>
            <a:ext cx="2384170" cy="7235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箭头: 下 50">
            <a:extLst>
              <a:ext uri="{FF2B5EF4-FFF2-40B4-BE49-F238E27FC236}">
                <a16:creationId xmlns:a16="http://schemas.microsoft.com/office/drawing/2014/main" id="{3BE3E1B4-1152-F8FA-213D-AA5F3BFDA3EC}"/>
              </a:ext>
            </a:extLst>
          </p:cNvPr>
          <p:cNvSpPr/>
          <p:nvPr/>
        </p:nvSpPr>
        <p:spPr>
          <a:xfrm rot="10800000">
            <a:off x="6603325" y="2749480"/>
            <a:ext cx="837623" cy="339846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1658801-D7BD-55B7-2474-8D0BEF5FEF16}"/>
              </a:ext>
            </a:extLst>
          </p:cNvPr>
          <p:cNvSpPr txBox="1"/>
          <p:nvPr/>
        </p:nvSpPr>
        <p:spPr>
          <a:xfrm>
            <a:off x="6078672" y="2176113"/>
            <a:ext cx="2247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Parameter Layer</a:t>
            </a:r>
            <a:endParaRPr lang="zh-CN" altLang="en-US" dirty="0"/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30ED689D-CFD0-5C86-3742-42F3C9605899}"/>
              </a:ext>
            </a:extLst>
          </p:cNvPr>
          <p:cNvSpPr/>
          <p:nvPr/>
        </p:nvSpPr>
        <p:spPr>
          <a:xfrm>
            <a:off x="8030138" y="2044088"/>
            <a:ext cx="165100" cy="1778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7C41404F-074F-EFA6-6F99-23FE4C2D4586}"/>
              </a:ext>
            </a:extLst>
          </p:cNvPr>
          <p:cNvSpPr/>
          <p:nvPr/>
        </p:nvSpPr>
        <p:spPr>
          <a:xfrm>
            <a:off x="8011285" y="3197652"/>
            <a:ext cx="165100" cy="1778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937F8CD2-EC51-1E78-10BC-7C12FA3BA907}"/>
              </a:ext>
            </a:extLst>
          </p:cNvPr>
          <p:cNvSpPr txBox="1"/>
          <p:nvPr/>
        </p:nvSpPr>
        <p:spPr>
          <a:xfrm>
            <a:off x="7969472" y="3148052"/>
            <a:ext cx="1839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4</a:t>
            </a:r>
            <a:endParaRPr lang="zh-CN" altLang="en-US" sz="1200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8ADCD6E6-4DD3-A42E-FC8F-06650FA5531D}"/>
              </a:ext>
            </a:extLst>
          </p:cNvPr>
          <p:cNvSpPr txBox="1"/>
          <p:nvPr/>
        </p:nvSpPr>
        <p:spPr>
          <a:xfrm>
            <a:off x="8013231" y="1986044"/>
            <a:ext cx="1364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5</a:t>
            </a:r>
            <a:endParaRPr lang="zh-CN" altLang="en-US" sz="1200" dirty="0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C373CE95-D959-746B-A204-226380DEDD0D}"/>
              </a:ext>
            </a:extLst>
          </p:cNvPr>
          <p:cNvSpPr/>
          <p:nvPr/>
        </p:nvSpPr>
        <p:spPr>
          <a:xfrm>
            <a:off x="2571750" y="5198169"/>
            <a:ext cx="2731294" cy="61302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5F194D1A-7042-EE1E-02A6-D6004849EA36}"/>
              </a:ext>
            </a:extLst>
          </p:cNvPr>
          <p:cNvSpPr txBox="1"/>
          <p:nvPr/>
        </p:nvSpPr>
        <p:spPr>
          <a:xfrm>
            <a:off x="2571750" y="5159521"/>
            <a:ext cx="27312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4. </a:t>
            </a:r>
            <a:r>
              <a:rPr lang="en-US" altLang="zh-CN" sz="1200" dirty="0" err="1"/>
              <a:t>mataclass</a:t>
            </a:r>
            <a:r>
              <a:rPr lang="en-US" altLang="zh-CN" sz="1200" dirty="0"/>
              <a:t> is the cornerstone of AME; see its separate GitHub repository for details.</a:t>
            </a:r>
            <a:endParaRPr lang="zh-CN" altLang="en-US" sz="1200" dirty="0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01576ACD-394C-E837-AB44-FDD2ED9C85D9}"/>
              </a:ext>
            </a:extLst>
          </p:cNvPr>
          <p:cNvSpPr/>
          <p:nvPr/>
        </p:nvSpPr>
        <p:spPr>
          <a:xfrm>
            <a:off x="3014845" y="5897094"/>
            <a:ext cx="3058933" cy="85055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BE416108-03E4-858E-04F0-4F7923865D5C}"/>
              </a:ext>
            </a:extLst>
          </p:cNvPr>
          <p:cNvSpPr txBox="1"/>
          <p:nvPr/>
        </p:nvSpPr>
        <p:spPr>
          <a:xfrm>
            <a:off x="11112501" y="1172152"/>
            <a:ext cx="1710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7</a:t>
            </a:r>
            <a:endParaRPr lang="zh-CN" altLang="en-US" sz="1200" dirty="0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BC45CBCE-4304-4AD3-A10E-409620158124}"/>
              </a:ext>
            </a:extLst>
          </p:cNvPr>
          <p:cNvSpPr/>
          <p:nvPr/>
        </p:nvSpPr>
        <p:spPr>
          <a:xfrm>
            <a:off x="5869021" y="1027879"/>
            <a:ext cx="2436282" cy="7046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箭头: 下 78">
            <a:extLst>
              <a:ext uri="{FF2B5EF4-FFF2-40B4-BE49-F238E27FC236}">
                <a16:creationId xmlns:a16="http://schemas.microsoft.com/office/drawing/2014/main" id="{08B21885-2D1C-21B2-603A-E36CC153285A}"/>
              </a:ext>
            </a:extLst>
          </p:cNvPr>
          <p:cNvSpPr/>
          <p:nvPr/>
        </p:nvSpPr>
        <p:spPr>
          <a:xfrm rot="10800000">
            <a:off x="6702087" y="1767561"/>
            <a:ext cx="640098" cy="160383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6DF9F9BF-F8BA-3FE0-AB81-87022E50B70D}"/>
              </a:ext>
            </a:extLst>
          </p:cNvPr>
          <p:cNvSpPr/>
          <p:nvPr/>
        </p:nvSpPr>
        <p:spPr>
          <a:xfrm>
            <a:off x="6242973" y="5811194"/>
            <a:ext cx="2692369" cy="97760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01576ACD-394C-E837-AB44-FDD2ED9C85D9}"/>
              </a:ext>
            </a:extLst>
          </p:cNvPr>
          <p:cNvSpPr/>
          <p:nvPr/>
        </p:nvSpPr>
        <p:spPr>
          <a:xfrm>
            <a:off x="9040396" y="6469282"/>
            <a:ext cx="3080208" cy="33259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3D2D27DB-7E96-825E-563C-1541A22C23BA}"/>
              </a:ext>
            </a:extLst>
          </p:cNvPr>
          <p:cNvSpPr txBox="1"/>
          <p:nvPr/>
        </p:nvSpPr>
        <p:spPr>
          <a:xfrm>
            <a:off x="5938838" y="1108075"/>
            <a:ext cx="2265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开始构建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EE675F6B-D8E9-A1D8-9456-A4790EFF5AB1}"/>
              </a:ext>
            </a:extLst>
          </p:cNvPr>
          <p:cNvSpPr/>
          <p:nvPr/>
        </p:nvSpPr>
        <p:spPr>
          <a:xfrm>
            <a:off x="8040197" y="1074265"/>
            <a:ext cx="165100" cy="1778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E6CC673A-296F-5205-F152-5407116CFFE8}"/>
              </a:ext>
            </a:extLst>
          </p:cNvPr>
          <p:cNvSpPr txBox="1"/>
          <p:nvPr/>
        </p:nvSpPr>
        <p:spPr>
          <a:xfrm>
            <a:off x="8043564" y="1024206"/>
            <a:ext cx="949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6</a:t>
            </a:r>
            <a:endParaRPr lang="zh-CN" altLang="en-US" sz="12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1BE2EE4-9370-3384-0C5C-F5475CF6EB39}"/>
              </a:ext>
            </a:extLst>
          </p:cNvPr>
          <p:cNvSpPr txBox="1"/>
          <p:nvPr/>
        </p:nvSpPr>
        <p:spPr>
          <a:xfrm>
            <a:off x="6289903" y="5811194"/>
            <a:ext cx="26570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7. It's an interactive world,(folders) are not single files.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B16AB4C-45CF-6116-4728-3E9F3F381D9D}"/>
              </a:ext>
            </a:extLst>
          </p:cNvPr>
          <p:cNvSpPr txBox="1"/>
          <p:nvPr/>
        </p:nvSpPr>
        <p:spPr>
          <a:xfrm>
            <a:off x="9047918" y="6496445"/>
            <a:ext cx="32189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6. It is also the main program of AME ADMIN</a:t>
            </a:r>
            <a:endParaRPr lang="zh-CN" altLang="en-US" sz="1100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E7EEC670-B147-F19E-34A8-EE9B1F457066}"/>
              </a:ext>
            </a:extLst>
          </p:cNvPr>
          <p:cNvSpPr txBox="1"/>
          <p:nvPr/>
        </p:nvSpPr>
        <p:spPr>
          <a:xfrm>
            <a:off x="2996061" y="5874222"/>
            <a:ext cx="30262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5. Here you set the world parameters, and AME will automatically generate a JSON file.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17911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165</Words>
  <Application>Microsoft Office PowerPoint</Application>
  <PresentationFormat>宽屏</PresentationFormat>
  <Paragraphs>40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BIZ UDGothic</vt:lpstr>
      <vt:lpstr>MS UI Gothic</vt:lpstr>
      <vt:lpstr>Noto Sans JP Black</vt:lpstr>
      <vt:lpstr>Noto Sans SC Black</vt:lpstr>
      <vt:lpstr>等线</vt:lpstr>
      <vt:lpstr>等线 Light</vt:lpstr>
      <vt:lpstr>Arial</vt:lpstr>
      <vt:lpstr>Britannic Bold</vt:lpstr>
      <vt:lpstr>Office 主题​​</vt:lpstr>
      <vt:lpstr>AMAR ENGINE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ceaser zhao</dc:creator>
  <cp:lastModifiedBy>ceaser zhao</cp:lastModifiedBy>
  <cp:revision>27</cp:revision>
  <dcterms:created xsi:type="dcterms:W3CDTF">2026-02-23T06:38:44Z</dcterms:created>
  <dcterms:modified xsi:type="dcterms:W3CDTF">2026-02-24T05:42:48Z</dcterms:modified>
</cp:coreProperties>
</file>